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5a2ffe5cac47ae" /><Relationship Type="http://schemas.openxmlformats.org/officeDocument/2006/relationships/extended-properties" Target="/docProps/app.xml" Id="Rfe07606723104d65" /><Relationship Type="http://schemas.openxmlformats.org/officeDocument/2006/relationships/officeDocument" Target="/ppt/presentation.xml" Id="Rff196bd5bdb74a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593501beff48ce"/>
  </p:sldMasterIdLst>
  <p:notesMasterIdLst>
    <p:notesMasterId xmlns:r="http://schemas.openxmlformats.org/officeDocument/2006/relationships" r:id="Rcbc0399101fd481d"/>
  </p:notesMasterIdLst>
  <p:sldIdLst>
    <p:sldId xmlns:r="http://schemas.openxmlformats.org/officeDocument/2006/relationships" id="256" r:id="R9d121d81b00b4d0d"/>
    <p:sldId xmlns:r="http://schemas.openxmlformats.org/officeDocument/2006/relationships" id="257" r:id="R333d28e33417447e"/>
    <p:sldId xmlns:r="http://schemas.openxmlformats.org/officeDocument/2006/relationships" id="258" r:id="Rb4860e06bd604591"/>
    <p:sldId xmlns:r="http://schemas.openxmlformats.org/officeDocument/2006/relationships" id="259" r:id="R103dcfc753a14bde"/>
    <p:sldId xmlns:r="http://schemas.openxmlformats.org/officeDocument/2006/relationships" id="260" r:id="R1fd9cb644a8b4788"/>
    <p:sldId xmlns:r="http://schemas.openxmlformats.org/officeDocument/2006/relationships" id="261" r:id="R3e40d52336c94eb5"/>
    <p:sldId xmlns:r="http://schemas.openxmlformats.org/officeDocument/2006/relationships" id="262" r:id="R4ca39d07123e4a9d"/>
    <p:sldId xmlns:r="http://schemas.openxmlformats.org/officeDocument/2006/relationships" id="263" r:id="R8386d76df68f4a4d"/>
    <p:sldId xmlns:r="http://schemas.openxmlformats.org/officeDocument/2006/relationships" id="264" r:id="Rd9ac08ca00534431"/>
    <p:sldId xmlns:r="http://schemas.openxmlformats.org/officeDocument/2006/relationships" id="265" r:id="Read4ae46a9024d22"/>
    <p:sldId xmlns:r="http://schemas.openxmlformats.org/officeDocument/2006/relationships" id="266" r:id="Re46f0b664e2748e9"/>
    <p:sldId xmlns:r="http://schemas.openxmlformats.org/officeDocument/2006/relationships" id="267" r:id="R9f0d29b1dfcb467d"/>
    <p:sldId xmlns:r="http://schemas.openxmlformats.org/officeDocument/2006/relationships" id="268" r:id="R7dfcdaa902d844f9"/>
    <p:sldId xmlns:r="http://schemas.openxmlformats.org/officeDocument/2006/relationships" id="269" r:id="R94493ca6fc714e53"/>
    <p:sldId xmlns:r="http://schemas.openxmlformats.org/officeDocument/2006/relationships" id="270" r:id="R1ecced6cc2d34508"/>
    <p:sldId xmlns:r="http://schemas.openxmlformats.org/officeDocument/2006/relationships" id="271" r:id="Rc0957657d1db4579"/>
    <p:sldId xmlns:r="http://schemas.openxmlformats.org/officeDocument/2006/relationships" id="272" r:id="R9bbb466c16b640d1"/>
    <p:sldId xmlns:r="http://schemas.openxmlformats.org/officeDocument/2006/relationships" id="273" r:id="Re03d3401bcc94d58"/>
    <p:sldId xmlns:r="http://schemas.openxmlformats.org/officeDocument/2006/relationships" id="274" r:id="R8a4de6c53fa24b7d"/>
    <p:sldId xmlns:r="http://schemas.openxmlformats.org/officeDocument/2006/relationships" id="275" r:id="Rb818d07157504d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593501beff48ce" /><Relationship Type="http://schemas.openxmlformats.org/officeDocument/2006/relationships/theme" Target="/ppt/theme/theme1.xml" Id="R31e5aa7ac0fd49ea" /><Relationship Type="http://schemas.openxmlformats.org/officeDocument/2006/relationships/notesMaster" Target="/ppt/notesMasters/notesMaster1.xml" Id="Rcbc0399101fd481d" /><Relationship Type="http://schemas.openxmlformats.org/officeDocument/2006/relationships/presProps" Target="/ppt/presProps.xml" Id="R108f574970134c93" /><Relationship Type="http://schemas.openxmlformats.org/officeDocument/2006/relationships/viewProps" Target="/ppt/viewProps.xml" Id="R1d0e86a2fba54d68" /><Relationship Type="http://schemas.openxmlformats.org/officeDocument/2006/relationships/tableStyles" Target="/ppt/tableStyles.xml" Id="Re2ae69170fbf44f6" /><Relationship Type="http://schemas.openxmlformats.org/officeDocument/2006/relationships/slide" Target="/ppt/slides/slide1.xml" Id="R9d121d81b00b4d0d" /><Relationship Type="http://schemas.openxmlformats.org/officeDocument/2006/relationships/slide" Target="/ppt/slides/slide2.xml" Id="R333d28e33417447e" /><Relationship Type="http://schemas.openxmlformats.org/officeDocument/2006/relationships/slide" Target="/ppt/slides/slide3.xml" Id="Rb4860e06bd604591" /><Relationship Type="http://schemas.openxmlformats.org/officeDocument/2006/relationships/slide" Target="/ppt/slides/slide4.xml" Id="R103dcfc753a14bde" /><Relationship Type="http://schemas.openxmlformats.org/officeDocument/2006/relationships/slide" Target="/ppt/slides/slide5.xml" Id="R1fd9cb644a8b4788" /><Relationship Type="http://schemas.openxmlformats.org/officeDocument/2006/relationships/slide" Target="/ppt/slides/slide6.xml" Id="R3e40d52336c94eb5" /><Relationship Type="http://schemas.openxmlformats.org/officeDocument/2006/relationships/slide" Target="/ppt/slides/slide7.xml" Id="R4ca39d07123e4a9d" /><Relationship Type="http://schemas.openxmlformats.org/officeDocument/2006/relationships/slide" Target="/ppt/slides/slide8.xml" Id="R8386d76df68f4a4d" /><Relationship Type="http://schemas.openxmlformats.org/officeDocument/2006/relationships/slide" Target="/ppt/slides/slide9.xml" Id="Rd9ac08ca00534431" /><Relationship Type="http://schemas.openxmlformats.org/officeDocument/2006/relationships/slide" Target="/ppt/slides/slide10.xml" Id="Read4ae46a9024d22" /><Relationship Type="http://schemas.openxmlformats.org/officeDocument/2006/relationships/slide" Target="/ppt/slides/slide11.xml" Id="Re46f0b664e2748e9" /><Relationship Type="http://schemas.openxmlformats.org/officeDocument/2006/relationships/slide" Target="/ppt/slides/slide12.xml" Id="R9f0d29b1dfcb467d" /><Relationship Type="http://schemas.openxmlformats.org/officeDocument/2006/relationships/slide" Target="/ppt/slides/slide13.xml" Id="R7dfcdaa902d844f9" /><Relationship Type="http://schemas.openxmlformats.org/officeDocument/2006/relationships/slide" Target="/ppt/slides/slide14.xml" Id="R94493ca6fc714e53" /><Relationship Type="http://schemas.openxmlformats.org/officeDocument/2006/relationships/slide" Target="/ppt/slides/slide15.xml" Id="R1ecced6cc2d34508" /><Relationship Type="http://schemas.openxmlformats.org/officeDocument/2006/relationships/slide" Target="/ppt/slides/slide16.xml" Id="Rc0957657d1db4579" /><Relationship Type="http://schemas.openxmlformats.org/officeDocument/2006/relationships/slide" Target="/ppt/slides/slide17.xml" Id="R9bbb466c16b640d1" /><Relationship Type="http://schemas.openxmlformats.org/officeDocument/2006/relationships/slide" Target="/ppt/slides/slide18.xml" Id="Re03d3401bcc94d58" /><Relationship Type="http://schemas.openxmlformats.org/officeDocument/2006/relationships/slide" Target="/ppt/slides/slide19.xml" Id="R8a4de6c53fa24b7d" /><Relationship Type="http://schemas.openxmlformats.org/officeDocument/2006/relationships/slide" Target="/ppt/slides/slide20.xml" Id="Rb818d07157504d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0aefc34ec964d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1dbd2c329442c9" /><Relationship Type="http://schemas.openxmlformats.org/officeDocument/2006/relationships/notesMaster" Target="/ppt/notesMasters/notesMaster1.xml" Id="R643ca79bf54449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077fa5d1434d7a" /><Relationship Type="http://schemas.openxmlformats.org/officeDocument/2006/relationships/notesMaster" Target="/ppt/notesMasters/notesMaster1.xml" Id="R6a4942aa1d8446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447381f61745ad" /><Relationship Type="http://schemas.openxmlformats.org/officeDocument/2006/relationships/notesMaster" Target="/ppt/notesMasters/notesMaster1.xml" Id="R007983147b764b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73d9368f9d4f70" /><Relationship Type="http://schemas.openxmlformats.org/officeDocument/2006/relationships/notesMaster" Target="/ppt/notesMasters/notesMaster1.xml" Id="Ra4286fde492044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33cace21874c06" /><Relationship Type="http://schemas.openxmlformats.org/officeDocument/2006/relationships/notesMaster" Target="/ppt/notesMasters/notesMaster1.xml" Id="R7dddb6ac9b9a46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7c52ae5d00439c" /><Relationship Type="http://schemas.openxmlformats.org/officeDocument/2006/relationships/notesMaster" Target="/ppt/notesMasters/notesMaster1.xml" Id="R71997bb34e744d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d2770a9b6144e6" /><Relationship Type="http://schemas.openxmlformats.org/officeDocument/2006/relationships/notesMaster" Target="/ppt/notesMasters/notesMaster1.xml" Id="R4e044ab2af6c43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883e3b14f84799" /><Relationship Type="http://schemas.openxmlformats.org/officeDocument/2006/relationships/notesMaster" Target="/ppt/notesMasters/notesMaster1.xml" Id="R1eea8542295744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d6ae0ce43a401e" /><Relationship Type="http://schemas.openxmlformats.org/officeDocument/2006/relationships/notesMaster" Target="/ppt/notesMasters/notesMaster1.xml" Id="R5d1d69cb6f9243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8a535403184442" /><Relationship Type="http://schemas.openxmlformats.org/officeDocument/2006/relationships/notesMaster" Target="/ppt/notesMasters/notesMaster1.xml" Id="Rea0fa28cc16c47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51024cbcec4382" /><Relationship Type="http://schemas.openxmlformats.org/officeDocument/2006/relationships/notesMaster" Target="/ppt/notesMasters/notesMaster1.xml" Id="Racec56d1152148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19ea8fba7c49e2" /><Relationship Type="http://schemas.openxmlformats.org/officeDocument/2006/relationships/notesMaster" Target="/ppt/notesMasters/notesMaster1.xml" Id="R4b15205530f741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6bd71d2e714d79" /><Relationship Type="http://schemas.openxmlformats.org/officeDocument/2006/relationships/notesMaster" Target="/ppt/notesMasters/notesMaster1.xml" Id="Refd885058c2448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0314aaaa6140a8" /><Relationship Type="http://schemas.openxmlformats.org/officeDocument/2006/relationships/notesMaster" Target="/ppt/notesMasters/notesMaster1.xml" Id="Ra8d44ce71bf241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263cb844ea452c" /><Relationship Type="http://schemas.openxmlformats.org/officeDocument/2006/relationships/notesMaster" Target="/ppt/notesMasters/notesMaster1.xml" Id="R0b5dd08c61f54e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819fdf6e0342f8" /><Relationship Type="http://schemas.openxmlformats.org/officeDocument/2006/relationships/notesMaster" Target="/ppt/notesMasters/notesMaster1.xml" Id="R9434a4c0884544a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3e1ea428e54004" /><Relationship Type="http://schemas.openxmlformats.org/officeDocument/2006/relationships/notesMaster" Target="/ppt/notesMasters/notesMaster1.xml" Id="R97e4d4356cae47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e0815448ebf4059" /><Relationship Type="http://schemas.openxmlformats.org/officeDocument/2006/relationships/notesMaster" Target="/ppt/notesMasters/notesMaster1.xml" Id="R4f2cb9746f96413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5f969105f344204" /><Relationship Type="http://schemas.openxmlformats.org/officeDocument/2006/relationships/notesMaster" Target="/ppt/notesMasters/notesMaster1.xml" Id="R3cd8fef1e277429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9d9caf71e86476b" /><Relationship Type="http://schemas.openxmlformats.org/officeDocument/2006/relationships/notesMaster" Target="/ppt/notesMasters/notesMaster1.xml" Id="Rd3e4a07fb13344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452627d6d46b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4405f6cf32649bd" /><Relationship Type="http://schemas.openxmlformats.org/officeDocument/2006/relationships/slideLayout" Target="/ppt/slideLayouts/slideLayout2.xml" Id="Rade548ce41bf42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e548ce41bf42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28411e83eb4466" /><Relationship Type="http://schemas.openxmlformats.org/officeDocument/2006/relationships/notesSlide" Target="/ppt/notesSlides/notesSlide1.xml" Id="R2eaaf2b103424c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bcce4379c44aa4" /><Relationship Type="http://schemas.openxmlformats.org/officeDocument/2006/relationships/notesSlide" Target="/ppt/notesSlides/notesSlide2.xml" Id="R488387edcd594e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b62094360c4fa8" /><Relationship Type="http://schemas.openxmlformats.org/officeDocument/2006/relationships/notesSlide" Target="/ppt/notesSlides/notesSlide3.xml" Id="Rce4cfa8a67214a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cafae585824eda" /><Relationship Type="http://schemas.openxmlformats.org/officeDocument/2006/relationships/notesSlide" Target="/ppt/notesSlides/notesSlide4.xml" Id="R8aa6272ed43947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2b26aad44f42d9" /><Relationship Type="http://schemas.openxmlformats.org/officeDocument/2006/relationships/notesSlide" Target="/ppt/notesSlides/notesSlide5.xml" Id="Rdbf47e63bd5f4e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cbe25cd25e4d41" /><Relationship Type="http://schemas.openxmlformats.org/officeDocument/2006/relationships/notesSlide" Target="/ppt/notesSlides/notesSlide6.xml" Id="Rf4265c43e19a4b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79e4081a594f1b" /><Relationship Type="http://schemas.openxmlformats.org/officeDocument/2006/relationships/notesSlide" Target="/ppt/notesSlides/notesSlide7.xml" Id="R5bdab18528ca4c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fb62a5c5084ff2" /><Relationship Type="http://schemas.openxmlformats.org/officeDocument/2006/relationships/notesSlide" Target="/ppt/notesSlides/notesSlide8.xml" Id="R72bffb93e66542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4d96610b484062" /><Relationship Type="http://schemas.openxmlformats.org/officeDocument/2006/relationships/notesSlide" Target="/ppt/notesSlides/notesSlide9.xml" Id="Rb4ade00c94e347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c4d4f1d06640ed" /><Relationship Type="http://schemas.openxmlformats.org/officeDocument/2006/relationships/notesSlide" Target="/ppt/notesSlides/notesSlide10.xml" Id="R604c9e85587b4c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df1b6ee3744b91" /><Relationship Type="http://schemas.openxmlformats.org/officeDocument/2006/relationships/notesSlide" Target="/ppt/notesSlides/notesSlide11.xml" Id="R48f6c9b8599642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e48f43c780434d" /><Relationship Type="http://schemas.openxmlformats.org/officeDocument/2006/relationships/notesSlide" Target="/ppt/notesSlides/notesSlide12.xml" Id="Raca3535b9f7944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2f26144bc24f61" /><Relationship Type="http://schemas.openxmlformats.org/officeDocument/2006/relationships/notesSlide" Target="/ppt/notesSlides/notesSlide13.xml" Id="R65a5f98579044bb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87714dcff148d9" /><Relationship Type="http://schemas.openxmlformats.org/officeDocument/2006/relationships/notesSlide" Target="/ppt/notesSlides/notesSlide14.xml" Id="R09ef412383ff4f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6433abc2104bdb" /><Relationship Type="http://schemas.openxmlformats.org/officeDocument/2006/relationships/notesSlide" Target="/ppt/notesSlides/notesSlide15.xml" Id="Re5094c52288e4a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615e82187741f0" /><Relationship Type="http://schemas.openxmlformats.org/officeDocument/2006/relationships/notesSlide" Target="/ppt/notesSlides/notesSlide16.xml" Id="R991ce551446e46b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06d37191e04a2b" /><Relationship Type="http://schemas.openxmlformats.org/officeDocument/2006/relationships/notesSlide" Target="/ppt/notesSlides/notesSlide17.xml" Id="R9706af48c975487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0148cdf03f438b" /><Relationship Type="http://schemas.openxmlformats.org/officeDocument/2006/relationships/notesSlide" Target="/ppt/notesSlides/notesSlide18.xml" Id="R5cfc1cafa9cb439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7f515add5a4d75" /><Relationship Type="http://schemas.openxmlformats.org/officeDocument/2006/relationships/notesSlide" Target="/ppt/notesSlides/notesSlide19.xml" Id="R4557f8e55cf44ac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51698ea9bb4834" /><Relationship Type="http://schemas.openxmlformats.org/officeDocument/2006/relationships/notesSlide" Target="/ppt/notesSlides/notesSlide20.xml" Id="Rec5a3529ae6f4c8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8B9307-1426-449E-A780-6E38B2C4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3A120-4B6E-48C8-8E8E-FE28D2B2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CA4D3-B214-4A20-B468-2622CBB6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A0648-2B5F-48CA-8F6C-81D45950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5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B91E2-E953-4C9B-8326-5A0B5BDD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096E9-4369-492F-8FE5-EE288A77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정책 이벤트와 자산 연결을 통한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F7E31-48FA-462D-991B-C52B4F17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742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금융지식 학습 시스템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43CF8-3A2F-4278-BFF1-357340F6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8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C9D8EA"/>
                </a:solidFill>
                <a:latin typeface="Apple SD Gothic Neo"/>
                <a:ea typeface="Apple SD Gothic Neo"/>
                <a:cs typeface="Apple SD Gothic Neo"/>
              </a:rPr>
              <a:t>1·2차 발표 통합 중간보고서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CDAD8-F886-4D21-AFA0-B0C859A2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팀명  이건홀딩스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012FA-E7FD-47FD-960C-E6F0AE97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DE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6DEE8"/>
                </a:solidFill>
                <a:latin typeface="Apple SD Gothic Neo"/>
                <a:ea typeface="Apple SD Gothic Neo"/>
                <a:cs typeface="Apple SD Gothic Neo"/>
              </a:rPr>
              <a:t>팀원  엄지용 · 이찬준 · 이석호 · 함민식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91441-5184-4793-8337-DBCEE3DC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619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정책·거시 이벤트와 자산 반응을 연결하여, 사용자가 금융 정보를 단순히 소비하는 데서 나아가 구조적 금융 지식으로 학습할 수 있도록 돕는 시스템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305FA-D7F5-433F-A98C-AE6A5EF0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695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C36B8-A061-4D40-998B-61681C2B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정책 이벤트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2B6B5-C0F4-4E9B-9DEF-403F6C1F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72125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FOMC · BIS · UCSB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44F75-F174-461B-943C-9A971CED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54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7731C-C501-4217-BC3B-C1F7A31F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43500"/>
            <a:ext cx="1695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FE5D7D-7069-4B3A-8EF2-8A69D8D2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286375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뉴스/문서 분석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EEC4D5-054B-469E-B400-2BF32617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572125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Ollama 요약 · FinBERT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55981-B4B3-44E7-ACD2-CCD87888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524500"/>
            <a:ext cx="54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FD443E-B266-413C-8275-0E828C77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43500"/>
            <a:ext cx="1695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81448-32DC-41D4-94A3-8D3765FB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86375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자산 반응 예측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986F8F-E4EA-4C60-8BF6-A27B05F5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572125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XGBoost · 패턴 매칭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B8422A-B420-4860-BCB6-6A1AB473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524500"/>
            <a:ext cx="54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EBD38C-A528-4EE9-9A24-BF0441D0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43500"/>
            <a:ext cx="1695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C0E77B-98A4-4453-B07D-DBE7FA34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286375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사용자 학습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FB82EF-E543-4A05-A45F-991DF6E2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572125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원인-결과 이해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18B8E5-35B9-4724-BD75-928F13B9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498405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FDD7D5-4B86-4DCF-90D6-8EDDD68E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DC247-61F7-4A2C-AA06-FAE83FB3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11B60C25-FE3C-4FBB-B97B-0AFF025E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D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02D52"/>
                </a:solidFill>
                <a:latin typeface="Apple SD Gothic Neo"/>
                <a:ea typeface="Apple SD Gothic Neo"/>
                <a:cs typeface="Apple SD Gothic Neo"/>
              </a:rPr>
              <a:t>REPORT SCOPE</a:t>
            </a:r>
          </a:p>
        </p:txBody>
      </p:sp>
      <p:sp>
        <p:nvSpPr>
          <p:cNvPr id="4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3EC58328-E639-4390-BB10-D5B57650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89AC8-EF7B-4ECE-A870-C2B8F2FB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본 보고서는 문제 정의, 관련 기술, 시스템 설계와 향후 일정에 초점을 둔다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F989C-04BE-4ED4-B775-CC19DC15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DA8B7-0FE1-43FB-B880-AA6A8FE6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C0BD6-E8F6-495F-8F4C-2E8A079E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45F"/>
          </a:solidFill>
          <a:ln xmlns:a="http://schemas.openxmlformats.org/drawingml/2006/main" w="9525">
            <a:solidFill>
              <a:srgbClr val="2E5E8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D41D8-A138-4D75-AA15-A17322F3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073CE-081E-4558-9921-86A4C6AD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669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A2C95-CEA1-4308-B343-5C6EFDDB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097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45F"/>
          </a:solidFill>
          <a:ln xmlns:a="http://schemas.openxmlformats.org/drawingml/2006/main" w="9525">
            <a:solidFill>
              <a:srgbClr val="2E5E8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66A57-7123-4C62-A024-7F94957C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526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관련 연구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A366E-2A68-4826-82B7-A044B754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669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705B6-56B1-42A4-9BDA-787E0E62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097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9525">
            <a:solidFill>
              <a:srgbClr val="9ED8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166CF-B49C-4F45-BAEE-EAA2997D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526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설계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F7A162-28D7-45C4-8C58-08F216A1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669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01E82-D149-4F2C-AEDB-9BD96CBE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9750"/>
            <a:ext cx="1762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45F"/>
          </a:solidFill>
          <a:ln xmlns:a="http://schemas.openxmlformats.org/drawingml/2006/main" w="9525">
            <a:solidFill>
              <a:srgbClr val="2E5E8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E1FF56-081A-4289-9717-0A1FBA4B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52625"/>
            <a:ext cx="1495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역할 분담과 일정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43DC20-2414-471A-880C-A098EE6B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6692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8C8B87-1C9E-42BE-8C31-E3701755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097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45F"/>
          </a:solidFill>
          <a:ln xmlns:a="http://schemas.openxmlformats.org/drawingml/2006/main" w="9525">
            <a:solidFill>
              <a:srgbClr val="2E5E8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3BD40-D0D8-4B85-8858-064891CB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526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참고문헌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6FBF8C-E367-4D08-B412-AEF82728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647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1차 발표의 문제 정의와 서비스 기획, 2차 발표의 설계 구체화 및 실험 결과를 통합하여 정리한다. 구현 세부 내용과 최종 결론은 별도 장으로 분리하지 않고, 진행 현황은 일정 안에서만 간단히 언급한다.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86C354-0725-4506-BDEB-981594FF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D5E4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003773-A095-4CEF-92FC-36C3D6B1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037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중간보고서 범위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03CF69-34E0-44C0-8914-30FD4318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86125"/>
            <a:ext cx="2838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시스템 구현 결과보다 프로젝트 필요성, 관련 연구, 데이터·모델·서비스 설계, 실험 방향, 향후 일정에 중점을 둔다.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865B3D-DFF9-41FE-BB10-967E4751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1C86F0-29BE-44E3-AA65-DC5EDF85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4822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AA7706-ED0B-48D5-888E-18FB1F92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6250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451C47-9DEB-44A3-86FE-513281A2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848225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 질문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6F9CF9-C5F9-408D-A316-287F4318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625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649F18-DF4B-4942-B8CB-928972F4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84822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 형태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3472D4-5C1F-4F95-976A-2AF4620B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2D9A86-60C1-4AEC-9A25-B77DC1B7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1017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서론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CD641B-6905-4ED3-BEE9-4B4D5DD6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2445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218711-7106-48F0-ABE7-A51DA9D3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210175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왜 금융 정보가 학습으로 전환되지 않는가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3717EE-8B2F-418C-B5F2-07923392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244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CB1187-E056-4A43-923B-58651D68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1017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문제·목표 정의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FFAA30-ABC2-4A00-91B7-19F99824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312CAE-4F9B-4BF0-9348-E583D2C6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57212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관련 연구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EA18A3-899C-4034-8DD5-26E15F5B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8640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D77787-9343-4CA3-B9C7-7F74CD59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572125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기존 서비스와 기술은 어디까지 해결했는가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DF2853-384F-4F0F-A0B8-B221BC07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4864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2881B6-85E8-403E-80B2-47000A54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212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비교표·기술 배경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61C78D-B592-491E-8F6F-4548C570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51361A-4D27-4BEF-BEE2-EAA71BCF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93407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설계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DDC97C-8EC9-45C5-B966-C30BAFF7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84835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6AC129-762C-4D91-9F0D-9910120C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934075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데이터와 모델을 어떻게 연결할 것인가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80ED3B-7CCA-4FE6-9F1B-F9CC6CA0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8483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5F2E64-2D70-4110-8828-986E8A87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93407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파이프라인·아키텍처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F84FB3-9E84-4B80-B679-8FA12C9D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이건홀딩스 | 정책 이벤트와 자산 연결을 통한 금융지식 학습 시스템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9EBF3F1-591D-4871-9361-AB977FE2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중간보고서 — 1·2차 발표 통합 | 2/20</a:t>
            </a:r>
          </a:p>
        </p:txBody>
      </p:sp>
    </p:spTree>
    <p:extLst>
      <p:ext uri="{BB962C8B-B14F-4D97-AF65-F5344CB8AC3E}">
        <p14:creationId xmlns:p14="http://schemas.microsoft.com/office/powerpoint/2010/main" val="12825639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665167-E2AC-43A4-90CB-D0469D49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F27EC-89BE-4D5E-B49A-C1B75D62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F17CC-F45D-4EA5-A295-2500EEF1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7420F-5AAD-4F23-83CA-A8D27C83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5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7C6F7CF2-F02A-447A-80CD-B12FE054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INTRODUCTION 1</a:t>
            </a:r>
          </a:p>
        </p:txBody>
      </p:sp>
      <p:sp>
        <p:nvSpPr>
          <p:cNvPr id="6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73DF5DC1-EFBE-494C-8616-C2C22EF3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D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0AC69-71BD-4B6D-BD73-8E613CE4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금융 정보는 넘치지만 자산 반응을 해석하는 지식으로 연결되지 않는다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72FBE-E3B6-4050-B07E-9AA4DBBF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C6BF1-1EB8-4005-8171-A0865289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A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AF895-161D-40A5-A4E1-580AF06E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8382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45C"/>
          </a:solidFill>
          <a:ln xmlns:a="http://schemas.openxmlformats.org/drawingml/2006/main" w="9525">
            <a:solidFill>
              <a:srgbClr val="376B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C5B13-2191-4EF9-B98D-5658307F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뉴스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11606-7A68-46B9-8091-D11902D4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695450"/>
            <a:ext cx="8382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45C"/>
          </a:solidFill>
          <a:ln xmlns:a="http://schemas.openxmlformats.org/drawingml/2006/main" w="9525">
            <a:solidFill>
              <a:srgbClr val="376B9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8DE45-10B8-44C5-8045-5F29F1D8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0975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정책 발표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82904-DAEB-4AC3-AF56-C98F470C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52650"/>
            <a:ext cx="8382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45C"/>
          </a:solidFill>
          <a:ln xmlns:a="http://schemas.openxmlformats.org/drawingml/2006/main" w="9525">
            <a:solidFill>
              <a:srgbClr val="376B9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C728E-5A60-4A3A-8298-ECACE732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6695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금리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3FA58-6857-490D-880D-011E9E06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00375"/>
            <a:ext cx="8382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45C"/>
          </a:solidFill>
          <a:ln xmlns:a="http://schemas.openxmlformats.org/drawingml/2006/main" w="9525">
            <a:solidFill>
              <a:srgbClr val="376B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F2F63-4ABC-4299-9BB7-054675E3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1467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물가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244093-46B3-403F-AD66-737CFF22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8382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45C"/>
          </a:solidFill>
          <a:ln xmlns:a="http://schemas.openxmlformats.org/drawingml/2006/main" w="9525">
            <a:solidFill>
              <a:srgbClr val="376B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C16AA-6C6B-42E0-ABC3-C9ED87C4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환율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55AA15-9C7F-40C0-A618-772E3A85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8382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45C"/>
          </a:solidFill>
          <a:ln xmlns:a="http://schemas.openxmlformats.org/drawingml/2006/main" w="9525">
            <a:solidFill>
              <a:srgbClr val="376B9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33513-9C1F-4A74-B930-C00BCDA9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9709CD-88B6-4C44-ACFC-3FE100B5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9ED8F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07867-57CE-4380-9185-25DD32DD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내 자산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DB7648-8EB4-46A3-865D-C3D4EB55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기술주 · ETF · 환율 · 채권 · 산업별 자산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1471B3-E2AB-4820-9C83-47768B66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43225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8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3725E8-BC29-456D-BF71-B4F17B33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576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rPr>
              <a:t>해석 연결 부재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44BDEE-7788-4F1F-AF75-235EC77B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863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4ABCFD-3269-43DF-A1DD-50B7FEF7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10125"/>
            <a:ext cx="708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정보는 많지만 자산과 연결되지 않음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B12C23-9B74-4CE9-9D5A-F2C3D0FB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10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D43D65-F039-4B8E-A390-2FBB53B4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133975"/>
            <a:ext cx="708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일반 사용자는 정책 이벤트의 의미를 해석하기 어려움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A3E7CA-7709-4CD8-9A82-833B0E55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34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B00EAB-7BA4-46B3-980C-6CD00CC6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57825"/>
            <a:ext cx="708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뉴스 소비가 실제 투자 학습으로 이어지지 않음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D2936A-0708-4D5F-84FB-90382C18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57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DD2381-58CC-4C5B-84EE-AE3698B7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781675"/>
            <a:ext cx="708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시장의 원인과 결과를 구조적으로 이해하지 못함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002C90-F3CE-428D-BEFA-1868615D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0C49F6-6408-445C-8F55-78F5E9BB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52625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 관점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7A01E3-FA0D-4C0A-9AA5-76C847FD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38375"/>
            <a:ext cx="21717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중요한 것은 “연준이 금리를 인상했다”는 사실보다 그 이벤트가 기술주, ETF, 환율, 채권에 어떤 영향을 줄 수 있는지 해석하는 능력이다.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DF17E4-51BF-4845-837D-82269E3E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rPr>
              <a:t>이건홀딩스 | 정책 이벤트와 자산 연결을 통한 금융지식 학습 시스템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1B4657-8F83-48A1-8895-955163FB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rPr>
              <a:t>중간보고서 — 1·2차 발표 통합 | 3/20</a:t>
            </a:r>
          </a:p>
        </p:txBody>
      </p:sp>
    </p:spTree>
    <p:extLst>
      <p:ext uri="{BB962C8B-B14F-4D97-AF65-F5344CB8AC3E}">
        <p14:creationId xmlns:p14="http://schemas.microsoft.com/office/powerpoint/2010/main" val="4348333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8938D0-F624-4AA4-A2E7-3F91148F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D5BCD-244B-43B4-84C1-2530DEC2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D6FEF0F0-A643-4D48-B0A2-08B28666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D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02D52"/>
                </a:solidFill>
                <a:latin typeface="Apple SD Gothic Neo"/>
                <a:ea typeface="Apple SD Gothic Neo"/>
                <a:cs typeface="Apple SD Gothic Neo"/>
              </a:rPr>
              <a:t>INTRODUCTION 2</a:t>
            </a:r>
          </a:p>
        </p:txBody>
      </p:sp>
      <p:sp>
        <p:nvSpPr>
          <p:cNvPr id="4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CC0FAB3F-3A91-474B-9697-A944D683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43A47-CD4F-4463-9B7C-FC0ACBE8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초보 투자자는 높은 부담, 낮은 보상, 지연의 악순환에서 금융 학습을 포기한다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9439F-2828-4550-98EB-C003107F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E889C-73AD-4E2B-9832-F70D27F5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F11E0-2070-49DB-B9F0-2AB1F11F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04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5E4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7447C-906B-4F6F-BD9F-A1326E68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B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8B7E8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06FA1-B726-49D8-964D-672BE724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717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높은 학습 부담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AFBD6-DDA0-406F-B6B9-7737EEB8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금리·물가·환율·산업 흐름·정책 방향을 동시에 이해해야 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963C5-7981-4F87-AEED-DB053181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304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5E4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EC056-CF63-45B2-8E7D-CA53C6E5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B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8B7E8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9EE62-724A-49C5-86CE-87BAAAF3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717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낮은 초기 보상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8DB7C-36E4-4557-B0F3-8CA7AFA7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622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초기 투자금이 작으면 연 8~10% 수익률도 체감 보상이 제한적이다.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45265-336A-447F-B951-C8D2F617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04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5E4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515D7F-E31A-4BDD-8E04-F7F7EB53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B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8B7E8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D74077-2F53-4A63-AC6F-CAD4B993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717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근로소득 의존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265CAC-FA56-4324-917E-605D78F7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학습은 어렵고 보상은 작아 금융 공부가 미뤄지고 복리 기회를 잃는다.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9D837-1EB4-4D83-90EA-DE6D8493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81475"/>
            <a:ext cx="350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828D6F-2620-416C-9105-E7D5773D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81475"/>
            <a:ext cx="346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6CDB47-695C-48C4-984F-0AE6EC35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EE232-998D-4174-B1FA-76CDFF2D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81550"/>
            <a:ext cx="784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문제는 정보 부족이 아니라, 정보를 자산과 연결해 해석하는 학습 구조의 부재이다.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5933E5-68D8-4047-B781-4D24597A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이건홀딩스 | 정책 이벤트와 자산 연결을 통한 금융지식 학습 시스템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ABFE99-52C3-43A5-8D28-F0F6668A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중간보고서 — 1·2차 발표 통합 | 4/20</a:t>
            </a:r>
          </a:p>
        </p:txBody>
      </p:sp>
    </p:spTree>
    <p:extLst>
      <p:ext uri="{BB962C8B-B14F-4D97-AF65-F5344CB8AC3E}">
        <p14:creationId xmlns:p14="http://schemas.microsoft.com/office/powerpoint/2010/main" val="342266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BC1B35-F718-4BC2-8720-4A1A30B5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384C1-D3D6-4C7C-ADB8-CED8B842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C02F6-C089-4795-8C21-2D393A69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3C36A-1B9B-4137-B131-2987284D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5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EBB8BA5B-1967-4062-8D38-4C4947AE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INTRODUCTION 3</a:t>
            </a:r>
          </a:p>
        </p:txBody>
      </p:sp>
      <p:sp>
        <p:nvSpPr>
          <p:cNvPr id="6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D315762B-C927-435A-9533-371B1D7A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D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93801-00F5-44B9-BE05-7089E010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목표는 추천이 아니라 정책 이벤트와 자산 반응의 관계를 학습하게 만드는 것이다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180CB-31F6-4C05-AAE2-2B695C93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00A62-F790-4665-A4FF-6629A8DC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A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93528-0712-442C-8AE5-F478FDA3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25717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9ED8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92F09-BC5B-4447-83C1-503FCD3E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47950"/>
            <a:ext cx="1847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금융지식</a:t>
            </a:r>
          </a:p>
          <a:p xmlns:a="http://schemas.openxmlformats.org/drawingml/2006/main">
            <a:pPr algn="ctr">
              <a:defRPr sz="225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학습 시스템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02E38-D0A8-4CFF-B380-939AAD8B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724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11D1A-81D8-41C3-AD41-085F8E01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28825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방향성 예측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E3953-AE87-41DC-A46B-87300982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14575"/>
            <a:ext cx="2419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정책 이벤트 이후 자산의 상승·하락 가능성을 학습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63FC50-F8C5-4ADB-AB45-69FD4E8D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574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FF1C75-5563-4EE0-BFE4-A81E4D20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85950"/>
            <a:ext cx="2724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2F1CD3-72DF-4BC8-84B8-A4537F8D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28825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변동성 예측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447E9-DDCE-41C5-94BA-70806A98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14575"/>
            <a:ext cx="2419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급격한 리스크 확대 가능성을 사전에 인지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51865-B9BB-4A9F-9143-75DD5717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574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C4C212-653A-4DFC-A377-9FAD0BB7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2724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78F409-6BA7-4CF1-9A80-42A49645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38625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민감도 분석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35EFB-40CA-488D-BC61-A07D0558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24375"/>
            <a:ext cx="2419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자산별로 어떤 정책 신호에 민감한지 비교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8A4B6-A029-4A31-8BFC-3C8BCA15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429000"/>
            <a:ext cx="19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84A457-E035-4697-8FCE-44FEB81F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95750"/>
            <a:ext cx="2724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2B2810-9C61-4960-A855-0A4E226E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38625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거시 흐름 추론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232867-66AC-496C-83DE-C7F85E3F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24375"/>
            <a:ext cx="2419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산업군 ETF 반응을 묶어 경기·금리·공급망 신호로 확장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4891A8-C128-40A7-8C3E-0F77D815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29000"/>
            <a:ext cx="19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BD1850-14A7-49A4-8249-9E35FE50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529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서비스 성격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BDA6A6-C2B9-4145-A51B-3FF44A95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5775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뉴스 요약 앱이나 종목 추천 앱이 아니라, 정책 이벤트가 자산에 영향을 주는 구조를 이해하도록 돕는 교육형 분석 시스템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D26D8C-121B-4471-94FA-D2DBA09B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rPr>
              <a:t>이건홀딩스 | 정책 이벤트와 자산 연결을 통한 금융지식 학습 시스템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F996DC-AA7A-432C-B34D-917C61B0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rPr>
              <a:t>중간보고서 — 1·2차 발표 통합 | 5/20</a:t>
            </a:r>
          </a:p>
        </p:txBody>
      </p:sp>
    </p:spTree>
    <p:extLst>
      <p:ext uri="{BB962C8B-B14F-4D97-AF65-F5344CB8AC3E}">
        <p14:creationId xmlns:p14="http://schemas.microsoft.com/office/powerpoint/2010/main" val="155715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37A678-E151-440B-894E-28B70373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0710C-EC9E-4B15-B406-699C3CA2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3DD9B088-9741-4EBC-BB49-0EE981BC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D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02D52"/>
                </a:solidFill>
                <a:latin typeface="Apple SD Gothic Neo"/>
                <a:ea typeface="Apple SD Gothic Neo"/>
                <a:cs typeface="Apple SD Gothic Neo"/>
              </a:rPr>
              <a:t>RELATED WORK 1</a:t>
            </a:r>
          </a:p>
        </p:txBody>
      </p:sp>
      <p:sp>
        <p:nvSpPr>
          <p:cNvPr id="4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91FDCD92-BE07-4715-9479-4236E8B6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E1F42-BD24-4ADF-B31A-C8F25D16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기존 금융 서비스는 학습보다 행동, 데이터 제공, 자동화에 더 집중되어 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ECC67-DFBD-4CBD-990F-52DA8328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1E524-1D57-4307-BE90-BAC66840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7D49E-8E80-4176-AAAB-9D276313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981D4-1BF5-41C3-A7A6-4FDA5D99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57375"/>
            <a:ext cx="1924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3E98D-6145-4C0F-8877-5A7910B6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716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7F995-F003-4180-A87B-C3A36486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857375"/>
            <a:ext cx="2781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대표 서비스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534A2-2300-4BA3-B281-A9264D9F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716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44B4E-9A08-476E-A30B-3D9EAA90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857375"/>
            <a:ext cx="2781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강점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4EB73-2728-432A-A358-ACBAB13D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716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5636C5-569F-4C35-8ACE-7EEBAE52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857375"/>
            <a:ext cx="1924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학습 관점 한계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77CB45-5C58-4EF5-8D3E-FD26C8D4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20E97-960C-4127-ABD8-67E5AD61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24125"/>
            <a:ext cx="1924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거래 중심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E158A-F0F3-41CC-A2D0-72C0913C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3840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1AF11-7B3F-425A-8AD0-678DD61B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24125"/>
            <a:ext cx="2781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Robinhood, Fidelity, 증권 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8CCB13-B720-42E9-B4C3-ED2651F4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3840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81C1FA-3CBA-492D-A490-E4BD6A91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524125"/>
            <a:ext cx="2781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매매·주문 체결·계좌 관리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08C956-9B45-412A-9561-1833C093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384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4EDD2E-FFA7-4407-8C61-D1A66267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524125"/>
            <a:ext cx="1924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무엇을 왜 사야 하는지 설명 제한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411E0B-6F7F-46CB-B5B8-9271C15B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D60312-A5BB-41D0-8664-26175B21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90875"/>
            <a:ext cx="1924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데이터 중심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061B65-38C2-41BB-828E-EE3E5960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051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3BA487-4EC7-4275-BFE0-68E36725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90875"/>
            <a:ext cx="2781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Yahoo Finance, Seeking Alpha, Investing.com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CE072D-7E93-4807-AF82-19E50263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051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1B6128-768B-4EA7-BE45-2CEC5786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190875"/>
            <a:ext cx="2781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뉴스·시세·지표 제공량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92242B-4DCA-49F4-B860-66FD64E3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051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D4E0DE-967E-4899-BDC0-D0EB5BD0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190875"/>
            <a:ext cx="1924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해석은 사용자에게 전가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1467FC-9A5A-4BF2-B8AD-2C57B2D8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3574C6-69A4-4605-9806-67A14126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57625"/>
            <a:ext cx="1924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AI 요약·자동투자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8E6730-2C22-443A-A5E2-BCCB8A92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7190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E45861-9DD7-48D8-BFFB-D1AEAA1A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857625"/>
            <a:ext cx="2781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AI 요약, 로보어드바이저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8499A5-87F1-4E1B-9CF1-8B175A86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7190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57CA8A-73EE-4F01-8112-D9CD8007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857625"/>
            <a:ext cx="2781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빠른 설명·운용 자동화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F8E357-4B0B-4FA1-9F3B-61E80C6A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719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71AF65-1F29-49F6-9371-74420376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857625"/>
            <a:ext cx="1924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사용자 금융 지식 성장을 유도하기 어려움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3BCF22-9BF3-46A2-A955-9A7CE698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0"/>
            <a:ext cx="962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CE3E19-6C61-425E-B322-F7C1C428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24450"/>
            <a:ext cx="904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시장에는 투자 행동을 돕는 서비스는 많지만, 정책 이벤트와 자산 반응을 연결해 투자 학습을 돕는 서비스는 부족하다.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D4DC76-8531-4249-8B57-3769AE22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이건홀딩스 | 정책 이벤트와 자산 연결을 통한 금융지식 학습 시스템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3C6E37-A7AB-4014-85FF-DD13C177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중간보고서 — 1·2차 발표 통합 | 6/20</a:t>
            </a:r>
          </a:p>
        </p:txBody>
      </p:sp>
    </p:spTree>
    <p:extLst>
      <p:ext uri="{BB962C8B-B14F-4D97-AF65-F5344CB8AC3E}">
        <p14:creationId xmlns:p14="http://schemas.microsoft.com/office/powerpoint/2010/main" val="6057782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2C43B2-1DF3-4CB7-AB66-80665B14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58D1D-57DC-4BF7-AF6C-A4BC4E77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32882-F76A-48F1-A4B5-2B1A7C5B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166ED-5BA5-4D4A-B966-C5A796CD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5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83F5BACB-4EBA-4384-B720-4E6023B8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RELATED WORK 2</a:t>
            </a:r>
          </a:p>
        </p:txBody>
      </p:sp>
      <p:sp>
        <p:nvSpPr>
          <p:cNvPr id="6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ABBD1075-AB2C-4B48-A989-E3B38F95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D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F2625-4D53-448A-AAAF-51AE9CE1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정책 이벤트는 발표 시점과 관찰 가능한 시장 반응이 명확한 학습 신호이다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477AC-A06E-438A-BFDD-37EF556E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F1E46-CB52-422A-BBE2-FCDBF2BC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A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44996-031F-458C-9E48-C74BFC17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2247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1903D-4EF3-4D02-BFBD-EE8D9987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정책 이벤트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0E728-1D37-4AA0-A0DD-057B9F52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19431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FOMC 금리 결정</a:t>
            </a:r>
          </a:p>
          <a:p xmlns:a="http://schemas.openxmlformats.org/drawingml/2006/main">
            <a:pPr algn="l">
              <a:defRPr sz="1200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BIS 수출규제</a:t>
            </a:r>
          </a:p>
          <a:p xmlns:a="http://schemas.openxmlformats.org/drawingml/2006/main">
            <a:pPr algn="l">
              <a:defRPr sz="1200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대통령 공식 문서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788E5-0E28-4A88-B48E-7F2BE480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7177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1EBAE-B553-428C-ACDD-79D26DC1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52625"/>
            <a:ext cx="2247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6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4E99A-03D3-4FB3-B824-9959456C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955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시장 변수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E2637-E6CB-4EA0-9A72-01155429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81250"/>
            <a:ext cx="19431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금리·달러·VIX</a:t>
            </a:r>
          </a:p>
          <a:p xmlns:a="http://schemas.openxmlformats.org/drawingml/2006/main">
            <a:pPr algn="l">
              <a:defRPr sz="1200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물가·공급망</a:t>
            </a:r>
          </a:p>
          <a:p xmlns:a="http://schemas.openxmlformats.org/drawingml/2006/main">
            <a:pPr algn="l">
              <a:defRPr sz="1200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산업 정책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93913-3776-4CB4-BBDA-BB94307F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7177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F46E1-2455-44B6-8BFD-01EC0F29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52625"/>
            <a:ext cx="2247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4A939-44BE-4925-8C45-7EF99826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자산 반응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8C18CE-C7F3-4E6D-906B-B5E2435B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19431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기술주·성장주</a:t>
            </a:r>
          </a:p>
          <a:p xmlns:a="http://schemas.openxmlformats.org/drawingml/2006/main">
            <a:pPr algn="l">
              <a:defRPr sz="1200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반도체·방산 ETF</a:t>
            </a:r>
          </a:p>
          <a:p xmlns:a="http://schemas.openxmlformats.org/drawingml/2006/main">
            <a:pPr algn="l">
              <a:defRPr sz="1200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채권·환율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C62CF1-B41A-4351-80B7-2ACCBB1D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0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191FC0-BC93-41F3-8869-A3566721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33875"/>
            <a:ext cx="708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발표 시점이 명확하고 공식 문서와 수치 기반 데이터가 존재한다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1BBDA-8103-4380-B731-C023B17E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33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3CF7EC-A605-4923-82FA-477EFF50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57725"/>
            <a:ext cx="708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루머성 뉴스보다 신호 대 잡음비가 높다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9A7850-1B23-429B-8DAE-28F08B34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57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5F78D8-14C8-469B-83E5-A905DDC1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81575"/>
            <a:ext cx="708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자산 가격 반응과 연결해 초보자가 원인과 결과를 학습하기 쉽다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B3BE4C-3572-4CDC-9F5F-86E45CFF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43375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CEE322-69B5-4CCD-9DB1-839F4005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291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예시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E36187-03D6-4AA4-AC52-84AFC49E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4337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3291CF-D148-472E-A512-5E20EF7D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2910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학습 가능한 해석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D1EA74-F12E-432A-B764-DAC8F4A7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43425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6FCE8A-3FEC-48A1-9AA0-D2D96DDE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291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금리 인상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1CED10-593E-447D-9C07-42451AE5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54342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5EBEA0-7892-4032-A467-D0F69FE7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2915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기술주·성장주 부담 증가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985A52-DA50-4F59-B623-A3173BFE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43475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FE6F4C-49CF-4904-8C6D-81C24534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292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수출 규제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1265F6-4361-4002-A09A-BCE00943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94347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5FFBB9-D1E7-4716-85EB-B59E5E56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02920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반도체·방산 ETF 민감도 증가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82B4B3-DB4B-4AB7-B8B8-5BA06750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343525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CE5EC5-EEAB-4044-8D4F-9612FC4A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292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물가 상승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FA60FE-CCDF-41B3-81F5-78D1DBAF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34352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B289A2-77B1-4705-AF3B-C3DE5608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42925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채권 금리·달러·성장주 영향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9F8CB0-B570-496C-9041-24B77B63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rPr>
              <a:t>이건홀딩스 | 정책 이벤트와 자산 연결을 통한 금융지식 학습 시스템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185959-34AA-4209-AA45-6CA7951E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rPr>
              <a:t>중간보고서 — 1·2차 발표 통합 | 7/20</a:t>
            </a:r>
          </a:p>
        </p:txBody>
      </p:sp>
    </p:spTree>
    <p:extLst>
      <p:ext uri="{BB962C8B-B14F-4D97-AF65-F5344CB8AC3E}">
        <p14:creationId xmlns:p14="http://schemas.microsoft.com/office/powerpoint/2010/main" val="1265703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BD70B3-9DEC-4E7B-8E2F-745E98DC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9DAB3-5814-42DF-AA6D-9418A2A2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09F5ED7F-73AB-4473-9A6C-EC1F7658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D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02D52"/>
                </a:solidFill>
                <a:latin typeface="Apple SD Gothic Neo"/>
                <a:ea typeface="Apple SD Gothic Neo"/>
                <a:cs typeface="Apple SD Gothic Neo"/>
              </a:rPr>
              <a:t>RELATED WORK 3</a:t>
            </a:r>
          </a:p>
        </p:txBody>
      </p:sp>
      <p:sp>
        <p:nvSpPr>
          <p:cNvPr id="4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ECB0CFED-DAC1-4F18-860F-6B09C915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54F7D-325D-4A0E-9B7C-068C1654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비정형 정책 문서는 요약·감성·감쇠 피처를 거쳐 학습 가능한 수치로 변환된다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94134-6989-46B1-ABF1-CCCBAED9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DE99B-021A-4FDC-917C-373700C4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B70E0-FB9D-4D5D-9C67-8A2C96D4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90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CF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98E35-5B4F-4CB2-94BE-B39F0C49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정책 문서 원문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BCC8E-E2CA-44AB-950C-D191F984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장문·비정형 텍스트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65FD9-1EF5-4DA1-B4A7-70589198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860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0DE19-9BA9-46FD-99F7-7640E819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52625"/>
            <a:ext cx="190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CF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72C20-4D04-4BAD-A970-BEA28449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955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LLM 요약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C74C4-0D78-4D41-95A9-E719B771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81250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Ollama 기반 청크 요약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7D35F-1D31-4862-82EC-5F6FAEE7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860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6B521-D867-4505-A98E-FCB63F5C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52625"/>
            <a:ext cx="190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CF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9FA7D-680C-42C8-A0A9-2149083F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955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FinBERT 감성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2B4B6-8FEC-4BD6-8145-1913C27E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금융 특화 긍·부정 점수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0DC9E-B8AC-438E-ACFE-B5F4A94D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860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4EE6C-A1E7-4FF6-9D39-69570CB6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52625"/>
            <a:ext cx="190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9525">
            <a:solidFill>
              <a:srgbClr val="CF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D518EC-2385-4A0B-A9EA-F33B56FC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955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ML 피처 테이블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736E13-3B86-4953-B171-CAEDF1BF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일자별 시장 데이터와 병합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32B4D0-2B4F-4B4B-83A1-5EAAD831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BC72C0-D93D-4A28-AF33-F59E647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90975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07705D-ED6E-4DB4-BF26-E032116E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052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B8C0DE-5F89-4110-970C-4917A4AF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990975"/>
            <a:ext cx="297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1차 발표 전략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69AE49-97A1-464F-9F36-09AEFEFB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BC03A1-290D-4D1E-8781-2FD7C9A7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990975"/>
            <a:ext cx="297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2차 설계 구체화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851293-761A-4FE7-A73B-71AE6B21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495F97-29D5-4EF2-B59E-E4F8258F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429125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텍스트 처리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C766DE-656F-4DF4-8ED6-961C675D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434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4975D6-C346-44F5-8717-BAB7AF62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429125"/>
            <a:ext cx="297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로컬 오픈소스 LLM JSON 구조화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BC1B3F-425F-402F-8ABE-369B5A7F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434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299CAF-3DA1-464C-913A-CCE6537A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429125"/>
            <a:ext cx="297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Ollama 요약과 FinBERT 감성 분석 분리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5CD257-3E60-4E80-BE11-3A292949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94FE08-BAB9-49B0-9DB9-FE1C2D41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867275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피처 설계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2CB4D7-F2B7-437F-9435-20323CA2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815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4CE61C-35D7-46D3-8C23-96D4149C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867275"/>
            <a:ext cx="297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정책 유형·요약 결과 중심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D44B90-4463-4C4D-9FB3-4027E086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815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31085C-D3AF-4D8A-A7BE-AF841E52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67275"/>
            <a:ext cx="297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감성 점수, 임베딩, days_since_news, decay 피처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5891DB-0A72-4EF1-B8E6-EC4C56C9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197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D34761-9618-48E4-994F-9777C73A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305425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운영 관점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5D683A-50F6-4960-BDE0-F2078F6A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197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5976E1-FCD6-4230-960A-CFFC2CF1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305425"/>
            <a:ext cx="297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구조화 품질 중심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065A90-C288-4BA7-AB6A-946314C6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197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B92713-58B8-4F38-906C-6CC8FB25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05425"/>
            <a:ext cx="297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안정성·재현성·학습 입력화 중심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717C30A-A49F-43B4-BA80-F1F8F4E8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이건홀딩스 | 정책 이벤트와 자산 연결을 통한 금융지식 학습 시스템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605D0B-A27D-48A3-8C1E-C20D01F6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중간보고서 — 1·2차 발표 통합 | 8/20</a:t>
            </a:r>
          </a:p>
        </p:txBody>
      </p:sp>
    </p:spTree>
    <p:extLst>
      <p:ext uri="{BB962C8B-B14F-4D97-AF65-F5344CB8AC3E}">
        <p14:creationId xmlns:p14="http://schemas.microsoft.com/office/powerpoint/2010/main" val="4758926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1C0270-5C2B-4E30-B7DA-356ADEDA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E24A2-E459-4B26-921A-41B5F2BC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D6838-6C69-45C4-89DA-800666A2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AE5A6-BED5-4994-BA48-2E56F128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5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7384BACE-924C-4BA7-8FAE-C0EF1852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RELATED WORK 4</a:t>
            </a:r>
          </a:p>
        </p:txBody>
      </p:sp>
      <p:sp>
        <p:nvSpPr>
          <p:cNvPr id="6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D0E833A2-7A69-4352-9D0F-46C5B9E4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D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A0AD4-FAD4-40AF-9FE4-FA21DA8F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금융 표 데이터에는 반복 실험과 설명 가능성을 갖춘 트리 기반 모델이 적합하다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1D840-572E-4007-BDB2-BF771516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376EB-8321-4716-BDFE-55C209CE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A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AD8DB-1FD2-46BD-B9A5-147B7C8F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4095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0D62F-238E-4B77-9D34-2AB4104C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095500"/>
            <a:ext cx="3790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블랙박스 예측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C0352-738D-4CBB-B5CF-76699713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81250"/>
            <a:ext cx="3790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“상승 확률 70%”만 제공하면 사용자는 왜 그런지 학습하기 어렵다.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2D51C-F143-421E-B01E-7269FCD7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095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9ED8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42B23-D396-4B4B-A6F8-C9528C4D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95500"/>
            <a:ext cx="3790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설명 가능한 예측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522791-1E6F-4AB3-A735-AA78E4E5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3790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Feature Importance와 SHAP으로 금리 스탠스, VIX, 환율, 정책 키워드의 기여를 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5BF96-8160-4565-BC35-BCD0ED1A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52725"/>
            <a:ext cx="128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5C05B1-8A17-4F8C-A0D3-F8ACC8EE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338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E3D14-C414-4539-B57D-2B3CFFB5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4196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선택 이유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C1569-F8E8-4648-BEB7-BE4A386C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33875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CDEC2-7CDF-41A5-BCCA-6EC63FA3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4196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기술적 의미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4145F9-8A38-4516-B681-51571AAE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33875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C72C9E-1836-49B0-A3CD-78A4CB48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196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교육용 서비스 의미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5A2608-9A27-489E-9748-FE39B084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339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708A4F-5523-4E6C-89A3-D1EF8FAC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8196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정형 표 데이터 적합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FFA563-445B-4885-B0A7-DD532F04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33925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BE257C-9603-4E58-804B-3D84821D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8196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시장·뉴스 피처를 표 형태로 결합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1CBA53-8B1C-424B-ACF3-EA71FE03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33925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C5CD90-73C6-4F8E-9FE4-D6C86C55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196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사용자에게 변수 단위 설명 가능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5E4126-10AC-485A-B8EB-53772BF7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339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3E5A1D-6EAF-4AF2-A26C-BF3AA81C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197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노이즈 환경 안정성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72C9EE-FADD-409F-A1DD-6809B62A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33975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6AB596-74C8-487F-A88E-9D958633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2197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이상치와 비선형 관계에 비교적 강함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CC228C-4481-4CD0-A3C2-7DAE9F03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33975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3EF695-B1A4-4696-9E37-C10C8A23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97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실험 반복과 성능 비교가 쉬움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1074F6-6453-41B9-88DE-C45F1D38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340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599100-4F46-4578-B78E-DE0F4800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6197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설명 가능성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570466-0857-4EF1-B33A-7E1372A2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34025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BD0AFA-47F7-40F7-A073-4EFD4B6B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6197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Feature Importance, SHAP 적용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803142-CE5B-4C80-B912-E9B16DF7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34025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109DA2-5229-4EA1-BF77-6D42DEAD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6197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확률보다 근거 중심 학습 제공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2BDC11-F38D-4473-B975-7B1AD387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rPr>
              <a:t>이건홀딩스 | 정책 이벤트와 자산 연결을 통한 금융지식 학습 시스템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D3D0F5-857D-4573-A824-E9DD512F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rPr>
              <a:t>중간보고서 — 1·2차 발표 통합 | 9/20</a:t>
            </a:r>
          </a:p>
        </p:txBody>
      </p:sp>
    </p:spTree>
    <p:extLst>
      <p:ext uri="{BB962C8B-B14F-4D97-AF65-F5344CB8AC3E}">
        <p14:creationId xmlns:p14="http://schemas.microsoft.com/office/powerpoint/2010/main" val="5005555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B05F13-F4D3-4889-B733-AA883CDE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010C9-72CD-4E17-A247-F7C89FBE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7B6F9244-8B21-4D87-A687-0F97E499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D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02D52"/>
                </a:solidFill>
                <a:latin typeface="Apple SD Gothic Neo"/>
                <a:ea typeface="Apple SD Gothic Neo"/>
                <a:cs typeface="Apple SD Gothic Neo"/>
              </a:rPr>
              <a:t>DESIGN 1</a:t>
            </a:r>
          </a:p>
        </p:txBody>
      </p:sp>
      <p:sp>
        <p:nvSpPr>
          <p:cNvPr id="4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CBCF908C-60B5-4D64-ACCC-BC308F69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319D2-DA44-4CE7-95EC-3A50D161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시스템은 데이터 수집, ML 처리, 서비스 전달의 3개 레이어로 분리된다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C40CD-1832-485B-8FCF-A924A5D2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C98E1-3F9F-41FB-AAD1-2ED4A661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1AD23-C012-4CC1-8859-87EC3799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667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99B64-295E-497D-9181-B2243E7B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데이터 수집 레이어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482E9-33D8-4925-B32D-DB257C3C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362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FOMC · BIS · UCSB</a:t>
            </a:r>
          </a:p>
          <a:p xmlns:a="http://schemas.openxmlformats.org/drawingml/2006/main">
            <a:pPr algn="l">
              <a:defRPr sz="112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뉴스·정책 문서 수집</a:t>
            </a:r>
          </a:p>
          <a:p xmlns:a="http://schemas.openxmlformats.org/drawingml/2006/main">
            <a:pPr algn="l">
              <a:defRPr sz="112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Ollama 요약 · FinBERT 감성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874AE-EE43-4E0C-B70B-D36DCEFC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956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E1830-B0BC-4761-98B3-7E422BD9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2667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6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0679D-D9B1-4BDA-B298-8F0847B1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5262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ML 레이어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6C6F0-5271-404D-A1DD-6CB6A03F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38375"/>
            <a:ext cx="2362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시장 피처 + 뉴스 피처</a:t>
            </a:r>
          </a:p>
          <a:p xmlns:a="http://schemas.openxmlformats.org/drawingml/2006/main">
            <a:pPr algn="l">
              <a:defRPr sz="112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XGBoost 회귀 예측</a:t>
            </a:r>
          </a:p>
          <a:p xmlns:a="http://schemas.openxmlformats.org/drawingml/2006/main">
            <a:pPr algn="l">
              <a:defRPr sz="112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Price-first 패턴 · SHAP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BF2F1-9737-4E71-883D-3CE7A200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C5820-409F-4242-B535-30463836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2667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9ED8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27A38-DA60-4050-8B8D-E4C0FF4A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5262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서비스 레이어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6F54D-3BDB-4BB1-ADBD-E41DB4E7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38375"/>
            <a:ext cx="2362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FastAPI 예측 API</a:t>
            </a:r>
          </a:p>
          <a:p xmlns:a="http://schemas.openxmlformats.org/drawingml/2006/main">
            <a:pPr algn="l">
              <a:defRPr sz="11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Spring Boot 앱 API</a:t>
            </a:r>
          </a:p>
          <a:p xmlns:a="http://schemas.openxmlformats.org/drawingml/2006/main">
            <a:pPr algn="l">
              <a:defRPr sz="11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PostgreSQL · iOS 화면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7106D-3A10-43C7-979D-E33466DE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625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45F"/>
          </a:solidFill>
          <a:ln xmlns:a="http://schemas.openxmlformats.org/drawingml/2006/main" w="9525">
            <a:solidFill>
              <a:srgbClr val="2E5E8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1E30A-4E95-46DF-8156-405FDE34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196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수집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5C17C8-8E5B-439F-9532-C57908A4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58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A9DA41-A470-458A-947C-00D89B21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625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45F"/>
          </a:solidFill>
          <a:ln xmlns:a="http://schemas.openxmlformats.org/drawingml/2006/main" w="9525">
            <a:solidFill>
              <a:srgbClr val="2E5E8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6617CC-4918-47CA-939F-07992C3E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196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요약/감성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6587CD-43F8-45E6-A701-DF026316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958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954176-14F8-4747-9BAC-2FE34571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625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45F"/>
          </a:solidFill>
          <a:ln xmlns:a="http://schemas.openxmlformats.org/drawingml/2006/main" w="9525">
            <a:solidFill>
              <a:srgbClr val="2E5E8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CEC2DD-41E2-4D65-808A-BACE1A41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피처 생성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2AEAC2-8B07-4100-AF00-1F3EAA42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958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A4E7E3-82DA-4EBA-BD42-E79C2EC6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625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9525">
            <a:solidFill>
              <a:srgbClr val="2E5E8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49F508-5CC2-429D-9970-C306E0F0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196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예측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DA8F5D-54D5-4DA9-81A2-DE954EBF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958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958D91-34E9-4B67-99B5-0197D6BF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625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2E5E8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56FC48-BD8A-4FCD-8E2E-7310E2DC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196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API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D212A1-89C6-4293-9AC1-83B9B699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958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09DDA1-7D20-4EFF-891B-C4C7476D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625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2E5E8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39358D-1BFC-43C7-A446-8B4DED23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196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iOS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72C779-4920-4D02-9D03-5AEE1D05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이건홀딩스 | 정책 이벤트와 자산 연결을 통한 금융지식 학습 시스템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5A1483-67F3-4C02-B1EC-BE4DB337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중간보고서 — 1·2차 발표 통합 | 10/20</a:t>
            </a:r>
          </a:p>
        </p:txBody>
      </p:sp>
    </p:spTree>
    <p:extLst>
      <p:ext uri="{BB962C8B-B14F-4D97-AF65-F5344CB8AC3E}">
        <p14:creationId xmlns:p14="http://schemas.microsoft.com/office/powerpoint/2010/main" val="5639808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66F850-7A97-4F62-A7FE-EB8BDC9E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0C200-C190-4364-A14A-9A8E0845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36032-EE6A-4EF1-9ED5-5E21DE20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C498C-A55E-4DD8-849F-48A16C27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5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023C5B4F-2596-48A4-9470-FDCE636E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DESIGN 2</a:t>
            </a:r>
          </a:p>
        </p:txBody>
      </p:sp>
      <p:sp>
        <p:nvSpPr>
          <p:cNvPr id="6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1368D808-1AFE-4C7C-8548-BCA991E3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D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1CAF8-9249-4140-B97A-187680AD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공식성과 구조화 가능성을 기준으로 정책·시장 데이터 소스를 선정한다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49845-59E4-44AE-B1AC-EEB8F706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85457-687A-43AB-9E84-4287B892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A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A54D9-E9C4-42D4-A1A2-4329A2E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2247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07B5D-4E84-41A9-B29C-4D0133B4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FOMC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D3661-2599-4065-9D53-B869AA64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미국 통화정책 발표·의사록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AE9AF-EAB1-412B-98C4-1AE49B3B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90875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874건</a:t>
            </a:r>
          </a:p>
          <a:p xmlns:a="http://schemas.openxmlformats.org/drawingml/2006/main">
            <a:pPr algn="ctr">
              <a:defRPr sz="135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2021.01 이후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C86F6-447C-4A9E-99BC-673F7280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247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4E3A6-620F-46C7-A1FB-E84C18A9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955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BIS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3510A-9D86-47CD-8CF2-FD834D2B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수출규제·산업/기술 통제 문서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DCD5E3-E7C6-45E6-88BB-7884EDFB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90875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335건</a:t>
            </a:r>
          </a:p>
          <a:p xmlns:a="http://schemas.openxmlformats.org/drawingml/2006/main">
            <a:pPr algn="ctr">
              <a:defRPr sz="135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2019.03 이후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F9CAD9-6F84-4119-A1DF-0E261B50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2247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842FF6-59AA-4CEB-8B88-6AE0AEF7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UCSB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E07F85-24FE-4F6E-900D-A981A768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미국 대통령 연설·공식 문서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5BC68-E666-4F85-912F-FB37AA76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125건</a:t>
            </a:r>
          </a:p>
          <a:p xmlns:a="http://schemas.openxmlformats.org/drawingml/2006/main">
            <a:pPr algn="ctr">
              <a:defRPr sz="135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2020.01 이후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C9C5E4-C8EF-4937-9D22-25C36790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52625"/>
            <a:ext cx="2247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0D8FB1-4578-4002-A152-E6DAE418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시장 데이터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8EA793-F122-4C00-89A7-05A17C58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QQQ 및 산업별 ETF·환율·금리·VIX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863768-B8B3-4841-AEA0-073B25A2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90875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확장 예정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17E9F9-2AF0-4291-A761-54744970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5C5ABC-B231-4384-9D2D-C6EB7267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4196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운영 원칙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9B950E-254D-46B0-9D46-8610E62A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33875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FFF0B4-C12F-4CD4-A1D6-402F162D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419600"/>
            <a:ext cx="668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세부 기준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5E61F0-B8CB-46AD-94DC-273A0E96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33925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252832-575B-41B4-8E96-2C5F902B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8196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공식 API·공개 데이터 우선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82ECDD-9311-4B89-B8FC-2862D76D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33925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6A2F76-9BC4-49CC-906A-782EE819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819650"/>
            <a:ext cx="668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루머성 뉴스와 커뮤니티성 데이터보다 공식 문서와 구조화 가능한 데이터를 우선 수집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3A3D3A-33DC-4C83-AE12-8FDFF234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33975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1301E9-82D8-4B2E-842E-DF6C8C84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197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요청 제한·이용약관 준수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152F6C-BCF7-448F-BCD8-AFBE70DC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33975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3EA6DA-C55E-47D1-93CD-3B0253DD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219700"/>
            <a:ext cx="668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차단 회피보다 공식 API, 대체 소스, 유료 API 전환을 우선 고려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EA7974-5224-4ABF-BAD8-BBF552B1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34025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2DCAB6-CC29-44E8-B6C8-7A1215EC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197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교차 검증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891F8A-FC92-4ECC-8DF0-BB023417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34025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FB3B5B-CE7D-4456-A9C6-D0204D98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619750"/>
            <a:ext cx="668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동일 지표는 가능한 경우 복수 소스로 검증하고 데이터 품질을 기록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DA3F36-E3EA-4FBB-8236-B55C683B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4837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rPr>
              <a:t>주: 위 수집 건수는 2차 발표 기준값. 현재 로컬 요약 CSV에서는 BIS 335건이 동일하게 확인됨.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E750B8-1681-4046-B0DA-D2C91309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rPr>
              <a:t>이건홀딩스 | 정책 이벤트와 자산 연결을 통한 금융지식 학습 시스템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7ABC47-8354-4711-96C5-8CD3F8BE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rPr>
              <a:t>중간보고서 — 1·2차 발표 통합 | 11/20</a:t>
            </a:r>
          </a:p>
        </p:txBody>
      </p:sp>
    </p:spTree>
    <p:extLst>
      <p:ext uri="{BB962C8B-B14F-4D97-AF65-F5344CB8AC3E}">
        <p14:creationId xmlns:p14="http://schemas.microsoft.com/office/powerpoint/2010/main" val="62104869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C1D55B-24B9-4325-85FD-A5320123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83EBE-DA31-40FC-82A3-04798A9C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85CBE0E4-6803-4991-918C-ECECD496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D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02D52"/>
                </a:solidFill>
                <a:latin typeface="Apple SD Gothic Neo"/>
                <a:ea typeface="Apple SD Gothic Neo"/>
                <a:cs typeface="Apple SD Gothic Neo"/>
              </a:rPr>
              <a:t>DESIGN 3</a:t>
            </a:r>
          </a:p>
        </p:txBody>
      </p:sp>
      <p:sp>
        <p:nvSpPr>
          <p:cNvPr id="4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779D0EAA-6CE2-4964-A2C1-CA4F7A7B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2269A-1886-4ACF-B0E9-4D3AD935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뉴스가 없는 날과 오래된 뉴스의 잔존 효과를 분리해 피처 왜곡을 줄인다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1FDE1-635D-4E55-9AF8-75A9C29C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925F3-A946-4EB9-AA09-5D55FC51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7F44D-D266-4F1F-8662-01EBD18C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45F"/>
          </a:solidFill>
          <a:ln xmlns:a="http://schemas.openxmlformats.org/drawingml/2006/main" w="9525">
            <a:solidFill>
              <a:srgbClr val="2E5E8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29641-0A54-4FBE-BD95-39C1463C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문서 수집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E92E3-5DC1-4A0E-B713-5522F963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847850"/>
            <a:ext cx="561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AD714-0303-475C-AE6F-4CD560E7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7145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45F"/>
          </a:solidFill>
          <a:ln xmlns:a="http://schemas.openxmlformats.org/drawingml/2006/main" w="9525">
            <a:solidFill>
              <a:srgbClr val="2E5E8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05B49-52C3-4BBC-B310-E9E57CA6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7716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청크 분할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7ECA3-3CD4-4CEE-91E0-B3C389B8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847850"/>
            <a:ext cx="561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D67167-D326-4FD7-B089-F5335C47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45F"/>
          </a:solidFill>
          <a:ln xmlns:a="http://schemas.openxmlformats.org/drawingml/2006/main" w="9525">
            <a:solidFill>
              <a:srgbClr val="2E5E8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C93A7-489B-40A2-8E3C-FB7BDC98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716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Ollama 요약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D3C1C1-1C03-4181-8DA6-41536148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47850"/>
            <a:ext cx="561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D74DC5-2870-4CE9-9F86-3CFB964E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145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45F"/>
          </a:solidFill>
          <a:ln xmlns:a="http://schemas.openxmlformats.org/drawingml/2006/main" w="9525">
            <a:solidFill>
              <a:srgbClr val="2E5E8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80311-229E-4DBF-9DCB-A7FDA40C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716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FinBERT 감성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32B909-8E77-463B-98AF-93FBDADA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847850"/>
            <a:ext cx="561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E9E70D-FA97-42DA-AA68-744F3BE3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45F"/>
          </a:solidFill>
          <a:ln xmlns:a="http://schemas.openxmlformats.org/drawingml/2006/main" w="9525">
            <a:solidFill>
              <a:srgbClr val="2E5E8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FD6023-AEB3-4FD5-B59C-91907ABD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시장 병합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759C70-4E6E-48F9-AB7F-4FAB4FE2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47850"/>
            <a:ext cx="561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EAA6CF-DD3E-4664-97C4-94E69C91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145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9525">
            <a:solidFill>
              <a:srgbClr val="2E5E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52582B-B522-40C3-9CAC-0573141C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716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decay 피처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9DFEAA-0005-44BF-9BE7-7DFADBFC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5E4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56E428-D0B2-42EC-A546-019BC849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ffill 방식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B1A47A-A972-4187-A158-F6FA79E0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33875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98F3AE-B1C2-40F4-8813-283A2CB1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감성이 뉴스 없는 날에도 그대로 전파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69A8D3-B95E-4542-A9E3-18B34327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5E4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28795D-98D7-4495-B55E-454AB715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03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decay 방식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ED9777-C751-448A-AB19-EE99ED77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338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C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763C48-7271-4172-A684-45AF1E3D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338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C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36C9DF-EA27-4CE1-97BD-74F8BE7E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338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C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6A72BD-5D03-4641-8B18-39C6150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338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C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EC2E04-FEBD-4059-9E4B-31305B0E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337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C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DD80D6-E36C-4529-A80F-EA9FC8B5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863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경과일과 반감기 3일 감쇠로 영향력 구분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AA45CC-11AF-42B7-B06C-1AEB060B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DC9F71-1782-4AA6-8D7A-73242C8B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610225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 피처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E12820-B6BC-4FA1-9D63-37E9E3B7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245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5C1BD1-F53B-437C-B343-00CB27BA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61022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감성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538781-1831-4A88-94CC-D5D4CD38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245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957C4B-0D89-4EEC-9A75-C5802716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61022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시간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396BBA-563A-4653-9675-C647D8BE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245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7FA74C-4578-4E69-9251-0B8460C5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61022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시장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E410AB-07E6-49D1-922A-DA6848F2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864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2E6A95-92D8-47C4-9DDE-5A80C8E3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972175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예시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54A092-FCED-435C-951F-B9EE448D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8864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33F073-B0AE-4C4A-A1EC-E1D9FCD0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97217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body_sentiment, sentiment_gap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CE9C17-7DD9-4246-971D-49B9A83A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864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3A193A-150F-40C5-AFE7-D893F286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97217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days_since_news, decay_3d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B597E7-69B4-4F2E-802F-707EEB32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8864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6BDEDA-3777-4ABF-9EE6-52EBA6FD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97217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ETF 수익률, VIX, 금리, 환율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11EE4F-D2AB-49A4-9E1D-DB039E2C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이건홀딩스 | 정책 이벤트와 자산 연결을 통한 금융지식 학습 시스템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DA1950-AB5D-44A3-99CC-18717903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중간보고서 — 1·2차 발표 통합 | 12/20</a:t>
            </a:r>
          </a:p>
        </p:txBody>
      </p:sp>
    </p:spTree>
    <p:extLst>
      <p:ext uri="{BB962C8B-B14F-4D97-AF65-F5344CB8AC3E}">
        <p14:creationId xmlns:p14="http://schemas.microsoft.com/office/powerpoint/2010/main" val="20891170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97E59B-A508-42FD-BDAA-B9995AB0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F3E25-A8FC-4A72-BF1E-219F4739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EA714-BA6D-4197-9AA2-55C6E650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6E7E1-B088-4E6E-B0C0-3D33A068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5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4E723CEF-C0AB-4757-A977-EF16ACC7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DESIGN 4</a:t>
            </a:r>
          </a:p>
        </p:txBody>
      </p:sp>
      <p:sp>
        <p:nvSpPr>
          <p:cNvPr id="6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83D5BC3E-3E6D-4800-9E2E-29D2F4BE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D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18544-87D4-4C90-9FF5-ED555499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분류 모델은 하락장을 놓칠 수 있어 회귀 모델로 방향성과 변동폭을 함께 예측한다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EA3C1-8B31-4897-8C4B-8765B8D1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11367-51FC-47DA-AC47-5516127B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A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5C6B8-AE9F-4885-AFFD-71E6107C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92C2C-F5CD-41E5-A957-E9E22C1C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95475"/>
            <a:ext cx="1924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F7863-E6F0-410E-9F1C-E5F7AD0C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09750"/>
            <a:ext cx="361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21C82-5ED1-4169-AEFE-2177B96E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895475"/>
            <a:ext cx="3448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분류 모델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C52E4-A4C0-4512-9DF2-DEDC3C71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361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73E51-DA0F-4C01-92CF-FF0F79D7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895475"/>
            <a:ext cx="3448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회귀 모델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0B22A-2B37-47F5-A91D-0DC190F5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9301C5-0D9E-42A2-9D66-B86C9958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19350"/>
            <a:ext cx="1924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예측 대상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81AFD-85FC-4366-ABDE-C4969118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33625"/>
            <a:ext cx="361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AE685-8327-4B6D-8128-35C5879F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19350"/>
            <a:ext cx="3448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상승/하락 클래스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0D831-1279-407A-9A03-EF40F55A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33625"/>
            <a:ext cx="361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8E307C-616E-4C80-BA18-67D55E46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419350"/>
            <a:ext cx="3448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미래 N일 수익률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8A1BA6-B248-4F49-99E1-AC81D8A5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55DF28-CBF5-49D1-A91F-0440EBB4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43225"/>
            <a:ext cx="1924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문제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0A84B0-E911-4726-94CA-7C34FD80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361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CBE90A-7D97-4A94-894F-FF9C7E45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943225"/>
            <a:ext cx="3448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우상향 자산에서 상승 클래스 편향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6D0113-A873-4CC4-80F8-2C22B134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361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962508-F409-4973-989E-1C1824DA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43225"/>
            <a:ext cx="3448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수익률 부호와 크기를 동시에 해석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8321AC-36A4-4701-ABE4-593A1941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10FDDF-13E0-404F-850F-62EC8293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67100"/>
            <a:ext cx="1924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리스크 탐지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CACFF7-EACC-4833-9467-B6AD2E75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81375"/>
            <a:ext cx="361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434429-2C4C-4D75-86F7-FE8AB8DB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467100"/>
            <a:ext cx="3448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하락 F1-score 0.00 가능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814CF3-953A-45B5-A957-1F3A071A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81375"/>
            <a:ext cx="361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CC5577-7AA5-4A56-B6A5-5CB57809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467100"/>
            <a:ext cx="3448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하락 방향과 변동폭을 함께 관찰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4009C1-D927-47CF-997F-F297269E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201BE9-FDA9-42B7-B2B2-9DE6BFA9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990975"/>
            <a:ext cx="1924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서비스 의미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B66B3B-8FEB-428B-AB54-285E5A85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05250"/>
            <a:ext cx="361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DE5CF7-32BD-4B4C-A9B2-A61A2E7B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990975"/>
            <a:ext cx="3448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정답/오답 중심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9D2E61-24E8-4B59-A50F-8592A2F9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361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148377-BB0C-4ED6-803F-7F46FD20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90975"/>
            <a:ext cx="3448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왜 어느 정도 움직일 수 있는지 학습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D22437-9559-46E8-A932-32AB30A5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7680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9ED8F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3CBDDD-5959-47D5-A7DC-43F292F8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19675"/>
            <a:ext cx="407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현재 설계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78737D-490E-4CA5-A2A8-D01CDAC5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05425"/>
            <a:ext cx="4076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XGBoost 회귀 모델 + RMSE, 방향 정확도, 공정 비교 구간 성능 평가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D7B4A0-2CA8-4919-9606-9CF31397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7680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31442F-6EF2-41B0-A8EB-BC78B2E6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19675"/>
            <a:ext cx="407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 장점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BF2057-0CFF-4346-9BD0-BA58DDF2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05425"/>
            <a:ext cx="4076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방향성은 투자 맥락을, 절댓값은 변동폭과 리스크를 설명하여 학습 정보가 풍부해진다.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2308FB-2C24-418B-8BE1-FC3731B9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rPr>
              <a:t>이건홀딩스 | 정책 이벤트와 자산 연결을 통한 금융지식 학습 시스템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6CCEB8-8C55-439F-AD67-41A1322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rPr>
              <a:t>중간보고서 — 1·2차 발표 통합 | 13/20</a:t>
            </a:r>
          </a:p>
        </p:txBody>
      </p:sp>
    </p:spTree>
    <p:extLst>
      <p:ext uri="{BB962C8B-B14F-4D97-AF65-F5344CB8AC3E}">
        <p14:creationId xmlns:p14="http://schemas.microsoft.com/office/powerpoint/2010/main" val="152309501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394BB4-AB63-4A8D-AB50-5F3DEB74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0C32A-494E-42A3-BABF-720B5401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33830D20-F054-4E06-89D0-5C40CC36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D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02D52"/>
                </a:solidFill>
                <a:latin typeface="Apple SD Gothic Neo"/>
                <a:ea typeface="Apple SD Gothic Neo"/>
                <a:cs typeface="Apple SD Gothic Neo"/>
              </a:rPr>
              <a:t>DESIGN 5</a:t>
            </a:r>
          </a:p>
        </p:txBody>
      </p:sp>
      <p:sp>
        <p:nvSpPr>
          <p:cNvPr id="4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A1B91710-2ADA-4134-9F00-6F56204C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6A18C-65B4-4DA9-B157-8477CB33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뉴스 피처는 단순 노이즈가 아니라 예측 성능을 개선하는 입력일 가능성을 보였다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3AFF7-4853-417F-86C9-19494023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E5901-9844-445A-864A-CCF33715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A6F1E-E6F6-496F-AEC0-4700C058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B0594-B04E-431E-9AFA-A5718822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8117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발표 기준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479D6-276B-4805-8F89-F4303F87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954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89712-6D22-4A9B-85D6-FFAF316F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78117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market_only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64DB8-222E-4563-BEFB-0F21DE83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954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F35EF-E4D5-449A-8269-BA8BED0A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78117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market_news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46E75-8131-4950-8CB8-00821BB7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954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B2318-462D-4BC0-BD86-7CF31693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78117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변화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A69AA-0541-4C7A-97B3-38B71AC1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C6D13-940F-463D-81B4-584C5A24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1932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Best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81B4A-8C8F-4C77-B150-89079523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36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7F4A34-FD65-4A0F-9ACF-94D1AD48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21932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15일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AD506D-2012-414D-A658-42C7D28B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336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3231C-CF6D-4607-B5C6-B01CC165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21932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15일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D9C4E4-DB3D-4DF2-83F6-4DF2CDFF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336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033156-42B4-4AB8-AF97-31769951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21932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6EAB5D-7043-4948-A310-F5B1F1DB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41D21B-5E0A-4F10-B05F-881CF509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5747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사용 피처 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DB7402-5AD8-4D22-873C-336A9A77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717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507F75-F6AB-4794-BB29-C36F60EE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5747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14개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2DD979-5C9A-4F7B-AFB2-A4298254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CF1003-7841-4212-871D-53C61B16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65747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20개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9660F3-11E6-437D-895B-9520407C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717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914BCD-2F39-415A-BB62-851A22A0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5747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+6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44078C-C0B2-4FC3-8A35-3E19BEB3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F883CC-797E-4998-AFBC-479FE0D7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9562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RMSE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0422D4-032C-41EF-8C73-5217CC2A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099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9FFB23-8648-4FF1-86FA-2B8EE575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9562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20.5502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4F9BE3-C4BA-4E4A-891F-46EB7D15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99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053452-5AC8-432E-8B57-757EE360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09562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20.4130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784908-28E7-4AF7-8265-C8B94607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99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8D5E51-C226-457F-AF93-4C3769E9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09562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-0.1372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C4E4BC-DFE4-40A4-B15B-3B8A89CD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1ECA08-772E-430F-8670-C1378221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방향 정확도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B71D48-3453-4E02-8F00-DDF0A16D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48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5602E2-F48C-4E49-AC53-9883981D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53377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71.85%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7B6605-3C3B-418F-997F-8388FEAC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48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5ADE22-4A77-42FB-83FD-1CAF1F65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53377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72.18%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D309A9-E196-40D8-8E07-D927C170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48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B72818-29DE-4D77-8570-B0CC0447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53377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+0.34%p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1D6C7C-E0FF-41FE-9B01-5866C967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1762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market_only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A80B1E-7D3F-4652-92AE-63CBA75F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07C257-2B87-4543-8CF6-9F703198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2812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2E2593-FF73-4F82-A7F7-47226AD9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0383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71.85%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BA8993-B473-4CD8-BF70-375EB8BB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1762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market_news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A2BAD8-3F88-4E3B-BF14-C853CE36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05075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D2743D-5DD6-45EA-BDB9-3976CE1D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05075"/>
            <a:ext cx="229171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A30018-9224-46B6-89D7-D9A1A05C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46697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72.18%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52F1E5-47BF-4222-B3E9-D185DEF0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방향 정확도 비교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E47AD6-8C07-4926-BDFA-DCC31F00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90875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184C949-861C-4BE0-8D79-9472752B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86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Aligned Comparison: 뉴스 커버리지가 있는 구간에서 방향 정확도 +2.65%p, RMSE -0.1035 개선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2904FF1-1559-4038-B3D0-A75E22AE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71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5E4E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8FAC8B6-BEA9-4E45-8F3D-E63E1AEA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현재 data-ml 저장소 재현 산출물은 5거래일 고정 회귀 실험으로 관리되며, aligned 기준 market_news가 RMSE -0.1230, 방향 정확도 +4.10%p 개선된다. 최종 보고서에서는 발표 기준과 재현 기준의 horizon·피처 수 정합성을 통일할 필요가 있다.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F8E7AC3-7CBD-4ED8-BB40-8BBF4E5C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이건홀딩스 | 정책 이벤트와 자산 연결을 통한 금융지식 학습 시스템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ABBFE8E-DF60-4403-B4A8-18E2DA75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중간보고서 — 1·2차 발표 통합 | 14/20</a:t>
            </a:r>
          </a:p>
        </p:txBody>
      </p:sp>
    </p:spTree>
    <p:extLst>
      <p:ext uri="{BB962C8B-B14F-4D97-AF65-F5344CB8AC3E}">
        <p14:creationId xmlns:p14="http://schemas.microsoft.com/office/powerpoint/2010/main" val="121146066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E40987-B978-4F6A-8C42-FD847D80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7C963-BA6F-4EA5-8FFD-8FB3A64C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1F849-51FA-4933-9AB3-71737CFB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DAF13-5C81-4A9F-A07A-D5EB6137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5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1CC52171-B646-4F67-BA32-A931F55E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DESIGN 6</a:t>
            </a:r>
          </a:p>
        </p:txBody>
      </p:sp>
      <p:sp>
        <p:nvSpPr>
          <p:cNvPr id="6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D3418F9D-1896-4CBF-8426-65C4213A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D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067AD-9C95-4480-AB5D-FE9EC11B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Price-first 패턴 매칭은 예측값을 과거 유사 사례 기반의 설명으로 전환한다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C0CE0-44E6-4AD4-AC5E-E69458DF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08A0C-8CED-4E8A-A41F-17600AB8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A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57693-90B2-41E3-8C30-F9CF5780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B878B-9A5A-4317-9F67-1C18F429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가격 급변일 추출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F738A-1CF2-431B-B30A-641E1111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QQQ/ETF 1% 이상 변동일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03301-D546-49AD-96C9-F9F2AF25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33625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E392F-566F-46B2-83D5-2BA50410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8097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5B744-DA3F-4EC1-87CD-7A25F4CF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526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직전 뉴스 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0F181-677A-457A-B4C5-C92D5A7B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238375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이전 20거래일 뉴스 피처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C38587-4F3A-450F-8390-B7D92C52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33625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7C30E-969E-4F31-8EF6-67CA11F8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097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5F782-46F1-4CD9-ACB1-667BAEA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526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가중 서명 생성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6A60B-7281-4850-9A17-22429814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38375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최근 뉴스일수록 높은 가중치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80547-B3A1-45CB-A254-53FEADD2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33625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14FE27-61B6-4B43-9016-190EB466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8097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1131DD-299A-4857-80DF-2474341A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9526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신규 뉴스 매칭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8616C-9355-4075-9E87-24B18649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238375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과거 패턴과 유사도 비교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6D70B2-28A6-41AE-8D62-5D58096E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33625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2A8E02-C591-4636-B1C2-DF0842BB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097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630DE6-6536-4A12-A0DC-CF3C0458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526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클래스·확신도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4490D3-4C56-40B8-BC39-6F67D570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38375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상승/하락/혼합 패턴 출력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DCD775-21E9-4441-B583-C0664B52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A31C50-2334-4A5E-8EF1-2C41069D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87667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D53919-D080-45DE-824B-E4C47190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909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FB60F3-91CD-47DB-B8EE-5B4CFAA9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876675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1~2%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9B93AA-4038-4A10-A8D1-F97036BC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1764C5-67A6-4460-8961-75FFC3F9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76675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2~3%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C9BC70-26FB-4EC0-9F77-9FCEC398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402706-DEE7-488A-8E4C-D2AC94DE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876675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3%+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C8DF69-FEF8-4F49-9704-0E03E877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2ED5EB-A09C-449C-8AAB-91C15CC8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767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상승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5675DB-2921-4C5E-83D5-9754A24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910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A96E40-5406-4AF2-AF8D-C067C41C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276725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up_1_2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22CF99-562F-446B-B214-ED0F131B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7C1E9B-CEB2-41CB-9A26-CA3754FD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276725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up_2_3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17A9B2-3A1E-4561-8523-F5B9D0B5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67BF39-9BA4-4BB7-9ABC-08DFC79A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276725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up_3+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7A3582-E8B5-4CEB-B3D6-4FB4FDB9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2DACBE-AE61-4C86-ACF8-580CAF9A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67677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하락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2F17BA-81DF-4283-A024-A822EB3C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910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A814BC-FF15-4C82-A300-1EC66254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676775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down_1_2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C13346-196A-4331-BDCD-594D767B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910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C93DD1-DE38-4456-82D8-ED3B634A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676775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down_2_3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A4E900-D6AA-4A76-8A24-6FF93C02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F28716-CE51-4440-9F67-C9AB307E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676775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down_3+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F40B06-92D3-4A5D-98E0-68E902E8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911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CC2D89-E011-4B8E-BDA7-FFF05473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0768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혼합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63305BE-4743-4CC4-B59A-48FDB5A1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911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4F1AFE-BE1A-4A31-9BD9-9743265B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076825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mix_1_2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C1C2EA-658F-413D-84B5-04FE2135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911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D30028-2E43-4589-9F08-FC3ADCA0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076825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mix_2_3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3FC3FE-A2A4-49AF-B35F-250E093A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911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85C24E1-76F9-4F70-BAE8-448143E8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076825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mix_3+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6A5371-962C-4390-95FD-6DBFFB4D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62375"/>
            <a:ext cx="2571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6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1DF745-5D02-4C2F-9771-F623401E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052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현재 보강 근거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7CA2C1D-90B2-40AF-903B-CF5389B3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91000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로컬 산출물에는 rise_strong, rise_mid, rise, neutral, fall, fall_strong의 6개 변동성 클러스터가 저장되어 있어 9클래스 확장 설계의 초기 근거로 활용 가능하다.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EEACA8B-7E37-43F0-B826-F298F505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rPr>
              <a:t>이건홀딩스 | 정책 이벤트와 자산 연결을 통한 금융지식 학습 시스템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4A35FF4-AFED-466A-9E57-52BFB59F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rPr>
              <a:t>중간보고서 — 1·2차 발표 통합 | 15/20</a:t>
            </a:r>
          </a:p>
        </p:txBody>
      </p:sp>
    </p:spTree>
    <p:extLst>
      <p:ext uri="{BB962C8B-B14F-4D97-AF65-F5344CB8AC3E}">
        <p14:creationId xmlns:p14="http://schemas.microsoft.com/office/powerpoint/2010/main" val="7430558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E9BD84-8631-4D5F-AC1B-6407705F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C5AA3-01B2-482B-B160-B6B5149B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32F35F76-F791-423F-A7EA-6ACDDAF5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D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02D52"/>
                </a:solidFill>
                <a:latin typeface="Apple SD Gothic Neo"/>
                <a:ea typeface="Apple SD Gothic Neo"/>
                <a:cs typeface="Apple SD Gothic Neo"/>
              </a:rPr>
              <a:t>DESIGN 7</a:t>
            </a:r>
          </a:p>
        </p:txBody>
      </p:sp>
      <p:sp>
        <p:nvSpPr>
          <p:cNvPr id="4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8CC6E585-1CCB-4240-B9B4-CEC4B687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6A902-7D60-43D0-93DF-C62E1208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사용자는 확률보다 변수별 근거를 통해 정책과 자산의 관계를 학습한다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02002-DD9B-4ACB-807A-EC2DCDE0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EEB14-29DA-4EB8-8335-6D1C11C0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50AFB-C322-451C-95FD-BEB696F0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SHAP 기반 설명 예시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F5F14-AAFB-4253-8E24-4FD8F372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1762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연준 긴축 스탠스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A9422-C1E2-4C36-A379-4653E016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14575"/>
            <a:ext cx="447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3D7CF-1D8F-40C0-9E7C-FD54C2E4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14575"/>
            <a:ext cx="385000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7AF3C-C9DA-4EE8-B483-2E3A083E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7647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86%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AD0EF-B63E-4EB6-811E-104FC6E9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1762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VIX 상승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889D9-837E-46DE-B53B-1C48F760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52725"/>
            <a:ext cx="447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CA7C7-9033-46B9-95F9-B6C5A25B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52725"/>
            <a:ext cx="326802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D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E3E68-A191-410B-8674-6522037C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146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73%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04893F-CB2A-4193-864E-70ADB3D1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1762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달러 강세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B91657-96AA-420F-9069-3E7B6BBB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90875"/>
            <a:ext cx="447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25D883-5626-4190-ACB7-50373480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90875"/>
            <a:ext cx="286512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C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852302-AB28-43C7-9F8A-6708BAEE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5277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64%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D1ACB8-DC78-4BC3-9936-11BF6577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1762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금리 레벨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B2367D-9BA5-48E3-944F-50A8A892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29025"/>
            <a:ext cx="447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41426A-9D14-489C-B3AD-6E536456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29025"/>
            <a:ext cx="246221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E0D6ED-27F0-4755-ABFB-61EFC426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909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55%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CDD5AF-AE64-48B9-BAC5-6A7C407B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1762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부정 뉴스 비율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70C173-6789-4F29-BE13-D04DE798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67175"/>
            <a:ext cx="447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D9131D-475E-4696-8ADA-802F3EA7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67175"/>
            <a:ext cx="188023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5E6AAC-6CFB-45DA-8D8D-6E43E5CB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2907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42%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2A7814-5913-4916-92B4-7F78B3BE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12DA69-6FB2-4D04-A89D-761FD73B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81225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예시 설명 문장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D8456D-A50B-4C7A-B24D-0E805624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66975"/>
            <a:ext cx="2552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이번 변동성 상승 예측에는 미 연준의 긴축적 스탠스, 최근 VIX 상승, 달러 강세가 주요하게 작용했습니다.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E629A0-0527-451B-BC3C-0A3D4CC9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0F10EF-F0FC-494E-BCCA-CBF9185B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56247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설명 요소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3FA526-FCA6-4389-A63C-3AEF2EEC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FDDAE9-31A3-4832-816D-21D2356F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562475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서비스적 의미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DF77F0-B36B-4705-9262-BA31007F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6319EB-5ADB-418F-A106-333F79EB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0062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Feature Importance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953F74-DC47-4F9E-8A7B-B43BE18A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149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49DAB0-1880-4217-82CB-A458B90A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000625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전체 모델에서 중요한 변수 확인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1DA1BD-C0E9-4CF1-B31B-738C0F7B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53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15FF47-E2FA-4493-9404-0847F1FE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43877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SHAP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BAC801-6CBA-49E4-B4A1-BF11FD19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530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6E14BC-251D-478F-BC36-132F99C8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438775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개별 예측에 대한 변수 기여도 확인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B0C687-0F7A-4223-BDB5-942CE75D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912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B24E43-B150-4CD7-A20B-D57458E7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87692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정책 유형·감성·시장 변수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E24625-CA31-4C5B-BBD0-3A239A6C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912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BA89FC-9673-4D06-917D-735D778A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876925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왜 이 자산이 영향을 받는지 설명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9D32E1-9A0A-406C-9ECA-DFCD602C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이건홀딩스 | 정책 이벤트와 자산 연결을 통한 금융지식 학습 시스템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3915C8-7711-495E-A33D-E2EC86FA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중간보고서 — 1·2차 발표 통합 | 16/20</a:t>
            </a:r>
          </a:p>
        </p:txBody>
      </p:sp>
    </p:spTree>
    <p:extLst>
      <p:ext uri="{BB962C8B-B14F-4D97-AF65-F5344CB8AC3E}">
        <p14:creationId xmlns:p14="http://schemas.microsoft.com/office/powerpoint/2010/main" val="120543158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215887-19D5-43E6-8DCF-88CBB613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B3689-AB92-4BDC-A887-9CF3DC97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00524-031E-4505-A0C1-A5C5F32C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8AC0B-D475-4BBD-A162-699DD4F3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5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7D5FB1D6-9B46-4FC9-97F6-AAE3F6A3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DESIGN 8</a:t>
            </a:r>
          </a:p>
        </p:txBody>
      </p:sp>
      <p:sp>
        <p:nvSpPr>
          <p:cNvPr id="6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B3BE2314-B5FD-4B84-A53C-396A8CDC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D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32ED9-CE84-43FC-BA85-F489B86F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FastAPI, Spring Boot, PostgreSQL, iOS 앱을 분리해 예측 결과를 사용자 학습 화면으로 전달한다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CB408-DB90-41F1-BFF9-FCC93AA3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7F48E-C549-4865-BC48-474B4D72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A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A4C14-1557-4043-8E83-82EDE38D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28AB0-D815-4126-93F8-79D07CB7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ML Serving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16031-CA33-49EB-8012-9C82ABA7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1695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FastAPI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29262A-7200-4702-88F2-1D7E2595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384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0809B-5985-42BD-B6C0-0E8C7286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47875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5A4B8-C0E9-46F8-A3C0-01C50D07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907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App 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26721-A9F9-4586-8A90-0233FB14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76500"/>
            <a:ext cx="1695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Spring Boot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42D4D-93DC-4D5D-A851-1147A0E1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384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82C4F5-F095-45FD-8044-8AC3EBC6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D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3C215-FBF2-4CA0-9A38-F527440C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Storage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11DCBF-001B-4174-91BA-CE174B41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1695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PostgreSQL JSONB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F3FD8-8BB2-4A2D-AC56-33B7E219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384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4C3F18-99AD-49CC-B7C4-E5509A74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47875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F7D46-5A4D-4794-91CC-7036B331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Client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4252F1-5777-4B12-8B12-D3EDC2F9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76500"/>
            <a:ext cx="1695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iOS 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526A4B-5BC0-452E-BEE8-19EA51AC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B597FE-CF88-49D7-A959-21874204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86225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iOS 화면 방향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38A24B-EDE0-493D-BF51-3825EC12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00500"/>
            <a:ext cx="695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545B5C-65B2-4867-9E40-7D8B7565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086225"/>
            <a:ext cx="678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설계 내용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3C678C-5504-40BA-A83F-65DA6536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FE4451-6DD9-4CC0-B2CC-1FCB1876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86275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로그인·회원가입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F81BEE-AA8A-40B7-8994-4D1E60A6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00550"/>
            <a:ext cx="695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4BAABF-CDAB-4760-AC4B-A57BC4C9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486275"/>
            <a:ext cx="678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사용자 진입과 기본 프로필 확보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B31118-D984-4B56-B45F-0D254722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B5AB97-F0F0-4C6F-9D6E-E4D72CF4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886325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관심 산업·투자 성향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282928-6735-43EF-8A18-AAB52CCB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00600"/>
            <a:ext cx="695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E32398-7FA2-48C9-8CF9-73EC488F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86325"/>
            <a:ext cx="678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자산 영향도 설명과 리스크 문구 개인화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4801D0-6102-4DCF-8EFD-CE27BA77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006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8ABBE7-FF22-4B0E-B04C-B458443F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86375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홈 화면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B12ED8-98F6-4ADB-9F23-9A94315E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00650"/>
            <a:ext cx="695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66584A-B0B4-4E1E-AD00-D60B4FAA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286375"/>
            <a:ext cx="678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정책 브리핑, 내 자산 영향도, 리스크 상태, 후속 시그널 제공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78184A-E802-41D6-9B7F-87F5A95A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007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B06F5F-81EF-4FE0-AE7D-939B54FD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686425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핵심 UX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053359-2317-48CC-8E48-EDB2C44D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600700"/>
            <a:ext cx="695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527F26-257D-4BA0-8103-F1936D4A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686425"/>
            <a:ext cx="678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무슨 뉴스가 떴는가보다 이 뉴스가 내 자산에 왜 영향을 주는가를 중심으로 구성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71D5C0-9FDA-45C4-A8D2-40E506C5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rPr>
              <a:t>이건홀딩스 | 정책 이벤트와 자산 연결을 통한 금융지식 학습 시스템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FF007B-15CC-4342-98E2-7BAA6F20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rPr>
              <a:t>중간보고서 — 1·2차 발표 통합 | 17/20</a:t>
            </a:r>
          </a:p>
        </p:txBody>
      </p:sp>
    </p:spTree>
    <p:extLst>
      <p:ext uri="{BB962C8B-B14F-4D97-AF65-F5344CB8AC3E}">
        <p14:creationId xmlns:p14="http://schemas.microsoft.com/office/powerpoint/2010/main" val="93243316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60B08D-FB91-4ECF-9D9E-029E5E91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CBD4E-124A-4423-ADFE-68B7459E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A5DFE012-8DE3-472A-A493-EB63238E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D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02D52"/>
                </a:solidFill>
                <a:latin typeface="Apple SD Gothic Neo"/>
                <a:ea typeface="Apple SD Gothic Neo"/>
                <a:cs typeface="Apple SD Gothic Neo"/>
              </a:rPr>
              <a:t>DESIGN 9</a:t>
            </a:r>
          </a:p>
        </p:txBody>
      </p:sp>
      <p:sp>
        <p:nvSpPr>
          <p:cNvPr id="4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232EF73D-BBF6-4A78-A54B-3675BC84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7E9F7-DABD-49A6-BF64-F7084C5B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대표 ETF 반응을 산업군 단위로 묶으면 개별 자산 예측을 넘어 거시경제 흐름을 추론할 수 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768E7-6470-4816-9E8C-9BC6849E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713E5-6EDC-4D6B-BFC5-5DE156F5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D5DD5-1EAE-498A-8E80-8171AD6E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C46C64-CB72-4651-A47A-0B5BA79C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정책 이벤트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58791-34DC-43FA-B8C9-5BC3DA0D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4625"/>
            <a:ext cx="2076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금리·수출규제·물가·공급망·산업정책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DAB15-0812-40D0-8F2C-3B536E2C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295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9ED8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8A9BE-F0CB-4EE4-9FCC-F889DF4A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43125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산업별 ETF 반응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B96BD-39EF-44FA-94C8-D5314DF8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28875"/>
            <a:ext cx="2647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반도체 · 방산 · 금융 · 친환경/에너지 · 헬스케어 · 채권 · 달러 · 원자재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ACDDC-EEDE-4208-A6AD-3D1A3EE0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9525">
            <a:solidFill>
              <a:srgbClr val="2B5C8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6E1C8-6557-410A-A4A0-20B09B42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28875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거시경제 국면 추론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52B03-5A4D-4BB4-8FEA-94E91950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14625"/>
            <a:ext cx="2076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C8D7E8"/>
                </a:solidFill>
                <a:latin typeface="Apple SD Gothic Neo"/>
                <a:ea typeface="Apple SD Gothic Neo"/>
                <a:cs typeface="Apple SD Gothic Neo"/>
              </a:rPr>
              <a:t>물가 압력, 금리 방향, 경기 둔화, 공급망 리스크, 산업 정책 변화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51DED-E011-47F4-BB30-322AE113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47975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CB9C8-7FF7-4788-AFA8-8475EDCF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47975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26411E-B851-4EFE-9880-E55D0C62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E2385-077F-4629-82B4-9E1FA49B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67225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확장 로직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CB988E-8069-4649-923C-384196C1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815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A8483-42F3-4DC4-8ED9-69A972B9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467225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분석 단위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F421E-871A-4C06-8211-A6502B62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815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2F46B-18BA-440C-AD33-D94B0F7B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467225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학습 의미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856F0E-8443-43B4-A22F-76F7E0A3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815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602209-0963-4054-BA8A-CE0F75B6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867275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민감도 분석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E8AADE-A32C-4099-B32A-B81FB672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815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7672A9-F343-4DBE-AA43-0642ACCE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867275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정책 이벤트별 산업군 ETF 반응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3EF7A9-6B0B-4643-89F4-8354A2A0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815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B887C9-BCC1-43FF-8D2A-22CF2FB3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867275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어느 산업이 어떤 정책에 민감한지 이해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02D0E5-FAC9-40E9-9AAE-647F6969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816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8CC253-9092-4A9E-A8D0-89604500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267325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시장 국면 추론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647D7D-4B1C-499C-B40B-6AA7AACF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816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3CAD6F-F7C4-4BAF-B7CF-0CC99878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267325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여러 산업군의 동시 반응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4C0291-874B-49D1-8565-C81CD88C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816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1D23F3-6842-4DA3-9353-F576A67B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267325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단일 종목 이슈와 거시 신호를 구분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44A256-613E-4000-A75E-F5BF45CD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816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80578D-73AA-4D4E-958F-A93F3336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667375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대표 자산 예측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FB0295-CDC4-4B0F-BE94-A1D4E31A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5816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05454E-AC20-48D1-BF5E-E3F65853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667375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ETF·채권·달러·원자재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EF5CDD-B122-443D-B63A-AD79E753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816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E842F2-06B7-44B4-A443-2CF104F4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667375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개별 투자 판단을 넘어 경제 흐름 학습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A4CE46-DAEA-49A4-918B-4A17D98B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이건홀딩스 | 정책 이벤트와 자산 연결을 통한 금융지식 학습 시스템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5F7678-E851-4E45-A660-03018589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중간보고서 — 1·2차 발표 통합 | 18/20</a:t>
            </a:r>
          </a:p>
        </p:txBody>
      </p:sp>
    </p:spTree>
    <p:extLst>
      <p:ext uri="{BB962C8B-B14F-4D97-AF65-F5344CB8AC3E}">
        <p14:creationId xmlns:p14="http://schemas.microsoft.com/office/powerpoint/2010/main" val="100425896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304F8F-2EB4-43D6-89BA-934D43A1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39888-3660-4818-A1DB-97B1A9A6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A5C96-1053-4D10-A1CB-872DE1DB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D0ADA-9983-4C64-8BC9-72743AB4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5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203820C1-21E8-4E58-8C84-5E258266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ROLE &amp; SCHEDULE</a:t>
            </a:r>
          </a:p>
        </p:txBody>
      </p:sp>
      <p:sp>
        <p:nvSpPr>
          <p:cNvPr id="6" name="kicker-19-marker">
            <a:extLst xmlns:a="http://schemas.openxmlformats.org/drawingml/2006/main">
              <a:ext uri="{FF2B5EF4-FFF2-40B4-BE49-F238E27FC236}">
                <a16:creationId xmlns:a16="http://schemas.microsoft.com/office/drawing/2014/main" id="{DEA64C9C-305D-4864-B1FC-BF31D698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D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DE61A-5CFB-498A-AEB5-079C331A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역할은 데이터, ML, 백엔드, iOS로 분리하고 8~12주차에는 통합 MVP 완성을 목표로 한다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ECBE9-9135-4CCF-A1FA-48CDF28E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2041C-43F0-4533-A0F1-CD5AEB1E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A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843B3-5FF1-4EB9-BF2B-A2D5DABF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43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104E6-85DA-4651-8928-2002DBDF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43075"/>
            <a:ext cx="971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담당자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BC0CA-BB30-4F22-AEEC-B1A5120C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657350"/>
            <a:ext cx="1809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5405A-CB70-4749-9018-0F526CD7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743075"/>
            <a:ext cx="1638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역할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B7454-E32A-4C81-8DB9-1C832050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57350"/>
            <a:ext cx="3667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4530A-0FD2-41A9-9BBD-712CAE10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743075"/>
            <a:ext cx="3495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주요 업무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0221A-47C2-45EE-98DD-5DF148F0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1143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A8874-951F-444E-98CD-F4AE5FA9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33600"/>
            <a:ext cx="971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4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이석호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C2BD1C-CD6D-4E3B-A29D-18E8B2D5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47875"/>
            <a:ext cx="1809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C3D60F-A513-44B4-8EA2-B35BDC29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133600"/>
            <a:ext cx="1638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4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데이터 수집 및 NLP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49853F-028F-40CC-A0E4-A2C99536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47875"/>
            <a:ext cx="3667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D63A9-34B1-485B-A9E6-6920E055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33600"/>
            <a:ext cx="3495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4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FOMC, BIS, UCSB 크롤링, Ollama 요약, FinBERT 감성 점수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36EF13-E9C6-4711-872B-EC9CA156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1143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D7766E-63D3-472A-830B-F0555315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24125"/>
            <a:ext cx="971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4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이찬준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ACB0B3-D796-4848-98E6-2689D10B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38400"/>
            <a:ext cx="1809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733F42-5ECE-4BBE-9874-E194497F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524125"/>
            <a:ext cx="1638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4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ML 파이프라인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E829E2-2CEF-4253-AD8A-007667C0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38400"/>
            <a:ext cx="3667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EB8D77-1505-45EA-BE90-32A7E207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524125"/>
            <a:ext cx="3495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4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피처 설계, XGBoost 회귀, 성능 평가, 패턴 매칭 설계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66124F-AC10-47D4-9DC2-137FDA98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28925"/>
            <a:ext cx="1143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390C2C-25A7-49C4-B3E5-D02B4FDA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914650"/>
            <a:ext cx="971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4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함민식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CA9DF9-D802-4EA5-968F-1608D2FB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1809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0A99E3-24D2-4BB6-A205-D0AACA45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914650"/>
            <a:ext cx="1638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4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백엔드 및 DB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3BCF81-4D99-4AEA-BE3C-A268777D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28925"/>
            <a:ext cx="3667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F95E5E-6007-4729-84C0-204BA183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14650"/>
            <a:ext cx="3495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4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FastAPI, PostgreSQL, JSONB 저장 구조, API 엔드포인트 설계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9E8258-774E-46E8-BEAA-DAEF93B8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1143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27F05D-1BC3-47AA-A504-B7FFF0D8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305175"/>
            <a:ext cx="971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48" b="1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엄지용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8C6A7E-A780-4AA0-8610-033376F1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19450"/>
            <a:ext cx="1809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3ECD3A-9F3E-4F39-81F8-AF4B15CD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305175"/>
            <a:ext cx="1638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4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iOS 앱 및 UI/UX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15DBDA-DE01-4204-B012-40918C16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19450"/>
            <a:ext cx="3667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CB1065-A005-408C-9A3F-46539F36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305175"/>
            <a:ext cx="3495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48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로그인, 온보딩, 홈 화면, 자산 영향도 UI, 연동 흐름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D599DF-0A42-43D4-A296-2D206531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57350"/>
            <a:ext cx="904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F16A00-B705-4BE8-8F8D-A6E6D086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743075"/>
            <a:ext cx="733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224CDC-5246-4BB5-AA58-9939219A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57350"/>
            <a:ext cx="1476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61468D-3BE0-40A2-898B-7D7E5601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43075"/>
            <a:ext cx="1304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원래 계획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21C0A2-EED2-4C67-BAE9-E3211B9F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573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4519ED-2511-43C8-AED7-8DCAD19B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43075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현재 진행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AAF946-4C7A-4585-9F58-BA12ACD5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904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0B0524-5C2F-41A1-B529-EA09C9A0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085975"/>
            <a:ext cx="733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1~2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FE172E-EB0D-4297-9C70-BE6A3DBB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1476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C659B7-211B-43B0-9D5B-9A071D24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85975"/>
            <a:ext cx="1304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Taxonomy·소스·DB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C689C93-9FA7-41EC-8D55-A366914C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002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A2BF05-1181-497E-A639-D334B712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085975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066A1D-E288-45CB-A343-0CAD2F42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904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636414-4C53-476F-9509-EA02157B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428875"/>
            <a:ext cx="733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3~4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2D48B9-A754-434D-B70D-F4503366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43150"/>
            <a:ext cx="1476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309A55-4D54-47BA-8C10-0D1F7A77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28875"/>
            <a:ext cx="1304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수집·앱 프로토타입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94A6289-5CD2-4F11-81C2-6A3B14FE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431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03D2AE-2A9A-44AE-809B-735EA78E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28875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수집 완료, 앱 일부 지연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D81B23A-BD14-42FC-9ED4-BC986DB7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904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95DFFD9-C93F-4207-A248-22E5505B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771775"/>
            <a:ext cx="733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5~6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BD1118-31DD-496C-8FAF-CB42AFE3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86050"/>
            <a:ext cx="1476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039BACD-4446-459C-856E-5FCB2EDE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71775"/>
            <a:ext cx="1304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LLM JSON·피처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07DB8D8-3D51-4036-A886-5F1B944D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860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902AE1C-0E2D-4021-B6BA-60169305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771775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피처 완료, LLM 방식 변경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98F490-B046-4FC3-A039-00C14CF2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904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B6FAABC-3ADF-4677-9951-037F33F2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14675"/>
            <a:ext cx="733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7~8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2324897-4376-4BF6-9A50-C831E5BE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28950"/>
            <a:ext cx="1476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9FF014C-7F1E-49AD-957E-DB133CC9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14675"/>
            <a:ext cx="1304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XGBoost·앱 연동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1A855D9-1F91-4E75-BD73-E805CFA3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289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A335829-41AA-4070-9B46-E26E6C15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114675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학습 완료, 연동 진행 중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BB03B75-B807-4B8B-B63A-0CFABBE6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904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A41ABF2-D6CE-4944-A7D8-9D345AD9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57575"/>
            <a:ext cx="733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8~12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BD6E8DC-CD2D-4A25-8577-D5A7E765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71850"/>
            <a:ext cx="1476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F99BC25-71F2-48E4-A767-9EC6A056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57575"/>
            <a:ext cx="1304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패턴·API·SHAP·테스트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2F38224-EB1E-4ACB-BBD7-AB883361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718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7E5E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EB6219B-1A3B-41A7-99E9-E8FB38C9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457575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MVP 완성 목표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518656F-A400-48B4-BB93-0F9ED708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1FCF412-E668-49D2-A5E3-0E46DC4D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4705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White House → UCSB 아카이브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1531699-A2C3-4954-999D-173DEAEE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9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083C73D-E73D-4A9D-B860-B8CB1DCB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43525"/>
            <a:ext cx="4705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분류 모델 → 회귀 모델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B72626E-F4B3-498C-BBFB-3B1E03D6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85F60E5-7FC8-4331-A4F1-9CDB2611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4705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ffill → decay 방식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4C46693-1AE5-4192-8A55-755BD4FC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02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C018F83-9BDA-4CA5-B515-E3D4E2CD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34075"/>
            <a:ext cx="4705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LLM JSON → Ollama 요약 + FinBERT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0AB2607-764D-4F79-BDC6-B7D6F831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9ED8F4"/>
                </a:solidFill>
                <a:latin typeface="Apple SD Gothic Neo"/>
                <a:ea typeface="Apple SD Gothic Neo"/>
                <a:cs typeface="Apple SD Gothic Neo"/>
              </a:rPr>
              <a:t>주요 변경 이력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3A854C8-8A79-4F37-AB9C-70FC7E2C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86375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FEF55E9-78C1-4872-A87A-3F13F9EA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91150"/>
            <a:ext cx="310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137"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15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현재 진행 현황: 데이터 수집·피처 구축·XGBoost 회귀 학습은 완료, 앱/API/설명 가능성 통합은 진행 중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EC30A30-E7F5-41D1-8038-650AB784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rPr>
              <a:t>이건홀딩스 | 정책 이벤트와 자산 연결을 통한 금융지식 학습 시스템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9865931-291B-4AA5-895C-BDD80559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AFC2D7"/>
                </a:solidFill>
                <a:latin typeface="Apple SD Gothic Neo"/>
                <a:ea typeface="Apple SD Gothic Neo"/>
                <a:cs typeface="Apple SD Gothic Neo"/>
              </a:rPr>
              <a:t>중간보고서 — 1·2차 발표 통합 | 19/20</a:t>
            </a:r>
          </a:p>
        </p:txBody>
      </p:sp>
    </p:spTree>
    <p:extLst>
      <p:ext uri="{BB962C8B-B14F-4D97-AF65-F5344CB8AC3E}">
        <p14:creationId xmlns:p14="http://schemas.microsoft.com/office/powerpoint/2010/main" val="24446106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831117-6CE2-484E-8F25-34C8832E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64763-CCA5-4292-A1B9-ACB504D2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0-label">
            <a:extLst xmlns:a="http://schemas.openxmlformats.org/drawingml/2006/main">
              <a:ext uri="{FF2B5EF4-FFF2-40B4-BE49-F238E27FC236}">
                <a16:creationId xmlns:a16="http://schemas.microsoft.com/office/drawing/2014/main" id="{49FD2B00-76BC-4220-8A63-8326F1A2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D5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02D52"/>
                </a:solidFill>
                <a:latin typeface="Apple SD Gothic Neo"/>
                <a:ea typeface="Apple SD Gothic Neo"/>
                <a:cs typeface="Apple SD Gothic Neo"/>
              </a:rPr>
              <a:t>REFERENCES</a:t>
            </a:r>
          </a:p>
        </p:txBody>
      </p:sp>
      <p:sp>
        <p:nvSpPr>
          <p:cNvPr id="4" name="kicker-20-marker">
            <a:extLst xmlns:a="http://schemas.openxmlformats.org/drawingml/2006/main">
              <a:ext uri="{FF2B5EF4-FFF2-40B4-BE49-F238E27FC236}">
                <a16:creationId xmlns:a16="http://schemas.microsoft.com/office/drawing/2014/main" id="{27AF50B2-CF4C-4239-91E9-C58B4B4C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493E6-E694-4ADC-99BE-E833E28E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참고문헌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0DCC2-8226-44E5-80D3-EC68F483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1B0C0-FEFF-4622-86DA-F55FBE2F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1EE61-A697-456D-AC92-18D7B8D5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981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1. A. C. MacKinlay, “Event Studies in Economics and Finance,” Journal of Economic Literature, 1997.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33279-978D-497E-A8B6-C28FE703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981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2. T. Chen and C. Guestrin, “XGBoost: A Scalable Tree Boosting System,” KDD, 2016.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F25FD-740B-467D-B2D6-320E0271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981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3. G. Ke et al., “LightGBM: A Highly Efficient Gradient Boosting Decision Tree,” NIPS, 2017.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C1019-B62A-444A-8007-363996C1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981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4. S. Lundberg and S. Lee, “A Unified Approach to Interpreting Model Predictions,” NIPS, 2017.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7E779-F6FF-47E6-9766-419EFB9F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981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5. D. Araci, “FinBERT: Financial Sentiment Analysis with Pre-trained Language Models,” 2019.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3C874-5461-4AAA-876E-E0094E15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981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6. Federal Reserve Board, FOMC Meeting Calendars and Policy Statements.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2AB04-D11A-46F5-9335-BAEE6AF8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981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7. U.S. Bureau of Industry and Security, News, Export Controls, and Regulations.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CA19B-EF22-4DB4-A43C-407DCDDC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981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8. The American Presidency Project, UCSB, Presidential Documents Archive.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801F3-E59F-415C-906A-B8E08949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981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9. PostgreSQL Documentation, JSON and JSONB Data Types.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2CC8C-4815-42B6-AB8F-F3137883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981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10. FastAPI Documentation.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78F5B-486F-42C9-9082-8F063469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981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11. yfinance Documentation.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327223-8ADE-4FCC-99FA-2A6CAF48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981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6243A"/>
                </a:solidFill>
                <a:latin typeface="Apple SD Gothic Neo"/>
                <a:ea typeface="Apple SD Gothic Neo"/>
                <a:cs typeface="Apple SD Gothic Neo"/>
              </a:rPr>
              <a:t>12. FRED API Documentation, Federal Reserve Bank of St. Louis.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221CE3-FE3E-41D0-949C-C4F67509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C532DB-C1BC-4FCD-8C28-926916A2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71A33"/>
                </a:solidFill>
                <a:latin typeface="Apple SD Gothic Neo"/>
                <a:ea typeface="Apple SD Gothic Neo"/>
                <a:cs typeface="Apple SD Gothic Neo"/>
              </a:rPr>
              <a:t>중간보고서 — 1·2차 발표 통합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08178C-5FF3-428B-8C0E-EE64177E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960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정책 이벤트와 자산 연결을 통한 금융지식 학습 시스템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08BFF8-4D45-4A4B-9E4C-C6DC5913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이건홀딩스 | 정책 이벤트와 자산 연결을 통한 금융지식 학습 시스템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8C23D0-D449-4997-910A-50FC29A0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8FA3B8"/>
                </a:solidFill>
                <a:latin typeface="Apple SD Gothic Neo"/>
                <a:ea typeface="Apple SD Gothic Neo"/>
                <a:cs typeface="Apple SD Gothic Neo"/>
              </a:rPr>
              <a:t>중간보고서 — 1·2차 발표 통합 | 20/20</a:t>
            </a:r>
          </a:p>
        </p:txBody>
      </p:sp>
    </p:spTree>
    <p:extLst>
      <p:ext uri="{BB962C8B-B14F-4D97-AF65-F5344CB8AC3E}">
        <p14:creationId xmlns:p14="http://schemas.microsoft.com/office/powerpoint/2010/main" val="2051172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2026-05-13T14:53:29.6360000Z</dcterms:created>
  <dcterms:modified xsi:type="dcterms:W3CDTF">2026-05-13T14:53:29.6360000Z</dcterms:modified>
</coreProperties>
</file>